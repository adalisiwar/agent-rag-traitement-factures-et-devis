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65" r:id="rId5"/>
    <p:sldId id="270" r:id="rId6"/>
    <p:sldId id="260" r:id="rId7"/>
    <p:sldId id="262" r:id="rId8"/>
    <p:sldId id="261" r:id="rId9"/>
    <p:sldId id="263" r:id="rId10"/>
    <p:sldId id="264" r:id="rId11"/>
    <p:sldId id="269" r:id="rId12"/>
    <p:sldId id="266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li siwar" userId="3aca83244d99da43" providerId="LiveId" clId="{A27E7B51-5BEE-437D-9FF7-18A5F3DAD691}"/>
    <pc:docChg chg="custSel addSld modSld">
      <pc:chgData name="adali siwar" userId="3aca83244d99da43" providerId="LiveId" clId="{A27E7B51-5BEE-437D-9FF7-18A5F3DAD691}" dt="2026-09-03T08:52:47.996" v="84" actId="14100"/>
      <pc:docMkLst>
        <pc:docMk/>
      </pc:docMkLst>
      <pc:sldChg chg="modSp mod">
        <pc:chgData name="adali siwar" userId="3aca83244d99da43" providerId="LiveId" clId="{A27E7B51-5BEE-437D-9FF7-18A5F3DAD691}" dt="2026-09-03T08:52:47.996" v="84" actId="14100"/>
        <pc:sldMkLst>
          <pc:docMk/>
          <pc:sldMk cId="0" sldId="261"/>
        </pc:sldMkLst>
        <pc:spChg chg="mod">
          <ac:chgData name="adali siwar" userId="3aca83244d99da43" providerId="LiveId" clId="{A27E7B51-5BEE-437D-9FF7-18A5F3DAD691}" dt="2026-09-03T08:52:47.996" v="84" actId="14100"/>
          <ac:spMkLst>
            <pc:docMk/>
            <pc:sldMk cId="0" sldId="261"/>
            <ac:spMk id="5" creationId="{00000000-0000-0000-0000-000000000000}"/>
          </ac:spMkLst>
        </pc:spChg>
      </pc:sldChg>
      <pc:sldChg chg="addSp delSp modSp mod">
        <pc:chgData name="adali siwar" userId="3aca83244d99da43" providerId="LiveId" clId="{A27E7B51-5BEE-437D-9FF7-18A5F3DAD691}" dt="2026-08-17T16:20:29.160" v="29" actId="1035"/>
        <pc:sldMkLst>
          <pc:docMk/>
          <pc:sldMk cId="0" sldId="265"/>
        </pc:sldMkLst>
        <pc:picChg chg="add mod">
          <ac:chgData name="adali siwar" userId="3aca83244d99da43" providerId="LiveId" clId="{A27E7B51-5BEE-437D-9FF7-18A5F3DAD691}" dt="2026-08-17T16:20:29.160" v="29" actId="1035"/>
          <ac:picMkLst>
            <pc:docMk/>
            <pc:sldMk cId="0" sldId="265"/>
            <ac:picMk id="10" creationId="{FF3897EB-7581-77DF-5D90-4CE682EDA333}"/>
          </ac:picMkLst>
        </pc:picChg>
      </pc:sldChg>
      <pc:sldChg chg="delSp modSp mod">
        <pc:chgData name="adali siwar" userId="3aca83244d99da43" providerId="LiveId" clId="{A27E7B51-5BEE-437D-9FF7-18A5F3DAD691}" dt="2026-08-17T16:34:01.168" v="83" actId="1035"/>
        <pc:sldMkLst>
          <pc:docMk/>
          <pc:sldMk cId="0" sldId="268"/>
        </pc:sldMkLst>
        <pc:spChg chg="mod">
          <ac:chgData name="adali siwar" userId="3aca83244d99da43" providerId="LiveId" clId="{A27E7B51-5BEE-437D-9FF7-18A5F3DAD691}" dt="2026-08-17T16:33:09.826" v="52" actId="20577"/>
          <ac:spMkLst>
            <pc:docMk/>
            <pc:sldMk cId="0" sldId="268"/>
            <ac:spMk id="4" creationId="{00000000-0000-0000-0000-000000000000}"/>
          </ac:spMkLst>
        </pc:spChg>
        <pc:spChg chg="mod">
          <ac:chgData name="adali siwar" userId="3aca83244d99da43" providerId="LiveId" clId="{A27E7B51-5BEE-437D-9FF7-18A5F3DAD691}" dt="2026-08-17T16:34:01.168" v="83" actId="1035"/>
          <ac:spMkLst>
            <pc:docMk/>
            <pc:sldMk cId="0" sldId="268"/>
            <ac:spMk id="5" creationId="{00000000-0000-0000-0000-000000000000}"/>
          </ac:spMkLst>
        </pc:spChg>
        <pc:spChg chg="mod">
          <ac:chgData name="adali siwar" userId="3aca83244d99da43" providerId="LiveId" clId="{A27E7B51-5BEE-437D-9FF7-18A5F3DAD691}" dt="2026-08-17T16:34:01.168" v="83" actId="1035"/>
          <ac:spMkLst>
            <pc:docMk/>
            <pc:sldMk cId="0" sldId="268"/>
            <ac:spMk id="6" creationId="{00000000-0000-0000-0000-000000000000}"/>
          </ac:spMkLst>
        </pc:spChg>
        <pc:spChg chg="mod">
          <ac:chgData name="adali siwar" userId="3aca83244d99da43" providerId="LiveId" clId="{A27E7B51-5BEE-437D-9FF7-18A5F3DAD691}" dt="2026-08-17T16:34:01.168" v="83" actId="1035"/>
          <ac:spMkLst>
            <pc:docMk/>
            <pc:sldMk cId="0" sldId="268"/>
            <ac:spMk id="7" creationId="{00000000-0000-0000-0000-000000000000}"/>
          </ac:spMkLst>
        </pc:spChg>
        <pc:spChg chg="mod">
          <ac:chgData name="adali siwar" userId="3aca83244d99da43" providerId="LiveId" clId="{A27E7B51-5BEE-437D-9FF7-18A5F3DAD691}" dt="2026-08-17T16:34:01.168" v="83" actId="1035"/>
          <ac:spMkLst>
            <pc:docMk/>
            <pc:sldMk cId="0" sldId="268"/>
            <ac:spMk id="8" creationId="{00000000-0000-0000-0000-000000000000}"/>
          </ac:spMkLst>
        </pc:spChg>
        <pc:spChg chg="mod">
          <ac:chgData name="adali siwar" userId="3aca83244d99da43" providerId="LiveId" clId="{A27E7B51-5BEE-437D-9FF7-18A5F3DAD691}" dt="2026-08-17T16:34:01.168" v="83" actId="1035"/>
          <ac:spMkLst>
            <pc:docMk/>
            <pc:sldMk cId="0" sldId="268"/>
            <ac:spMk id="9" creationId="{00000000-0000-0000-0000-000000000000}"/>
          </ac:spMkLst>
        </pc:spChg>
        <pc:spChg chg="mod">
          <ac:chgData name="adali siwar" userId="3aca83244d99da43" providerId="LiveId" clId="{A27E7B51-5BEE-437D-9FF7-18A5F3DAD691}" dt="2026-08-17T16:34:01.168" v="83" actId="1035"/>
          <ac:spMkLst>
            <pc:docMk/>
            <pc:sldMk cId="0" sldId="268"/>
            <ac:spMk id="10" creationId="{00000000-0000-0000-0000-000000000000}"/>
          </ac:spMkLst>
        </pc:spChg>
        <pc:spChg chg="mod">
          <ac:chgData name="adali siwar" userId="3aca83244d99da43" providerId="LiveId" clId="{A27E7B51-5BEE-437D-9FF7-18A5F3DAD691}" dt="2026-08-17T16:34:01.168" v="83" actId="1035"/>
          <ac:spMkLst>
            <pc:docMk/>
            <pc:sldMk cId="0" sldId="268"/>
            <ac:spMk id="11" creationId="{00000000-0000-0000-0000-000000000000}"/>
          </ac:spMkLst>
        </pc:spChg>
        <pc:spChg chg="mod">
          <ac:chgData name="adali siwar" userId="3aca83244d99da43" providerId="LiveId" clId="{A27E7B51-5BEE-437D-9FF7-18A5F3DAD691}" dt="2026-08-17T16:34:01.168" v="83" actId="1035"/>
          <ac:spMkLst>
            <pc:docMk/>
            <pc:sldMk cId="0" sldId="268"/>
            <ac:spMk id="12" creationId="{00000000-0000-0000-0000-000000000000}"/>
          </ac:spMkLst>
        </pc:spChg>
        <pc:spChg chg="mod">
          <ac:chgData name="adali siwar" userId="3aca83244d99da43" providerId="LiveId" clId="{A27E7B51-5BEE-437D-9FF7-18A5F3DAD691}" dt="2026-08-17T16:34:01.168" v="83" actId="1035"/>
          <ac:spMkLst>
            <pc:docMk/>
            <pc:sldMk cId="0" sldId="268"/>
            <ac:spMk id="13" creationId="{00000000-0000-0000-0000-000000000000}"/>
          </ac:spMkLst>
        </pc:spChg>
        <pc:spChg chg="mod">
          <ac:chgData name="adali siwar" userId="3aca83244d99da43" providerId="LiveId" clId="{A27E7B51-5BEE-437D-9FF7-18A5F3DAD691}" dt="2026-08-17T16:34:01.168" v="83" actId="1035"/>
          <ac:spMkLst>
            <pc:docMk/>
            <pc:sldMk cId="0" sldId="268"/>
            <ac:spMk id="14" creationId="{00000000-0000-0000-0000-000000000000}"/>
          </ac:spMkLst>
        </pc:spChg>
      </pc:sldChg>
      <pc:sldChg chg="addSp modSp new mod setBg">
        <pc:chgData name="adali siwar" userId="3aca83244d99da43" providerId="LiveId" clId="{A27E7B51-5BEE-437D-9FF7-18A5F3DAD691}" dt="2026-08-14T10:35:39.417" v="3" actId="26606"/>
        <pc:sldMkLst>
          <pc:docMk/>
          <pc:sldMk cId="265499982" sldId="270"/>
        </pc:sldMkLst>
        <pc:spChg chg="add">
          <ac:chgData name="adali siwar" userId="3aca83244d99da43" providerId="LiveId" clId="{A27E7B51-5BEE-437D-9FF7-18A5F3DAD691}" dt="2026-08-14T10:35:39.417" v="3" actId="26606"/>
          <ac:spMkLst>
            <pc:docMk/>
            <pc:sldMk cId="265499982" sldId="270"/>
            <ac:spMk id="8" creationId="{AB8C311F-7253-4AED-9701-7FC0708C41C7}"/>
          </ac:spMkLst>
        </pc:spChg>
        <pc:spChg chg="add">
          <ac:chgData name="adali siwar" userId="3aca83244d99da43" providerId="LiveId" clId="{A27E7B51-5BEE-437D-9FF7-18A5F3DAD691}" dt="2026-08-14T10:35:39.417" v="3" actId="26606"/>
          <ac:spMkLst>
            <pc:docMk/>
            <pc:sldMk cId="265499982" sldId="270"/>
            <ac:spMk id="10" creationId="{E2384209-CB15-4CDF-9D31-C44FD9A3F20D}"/>
          </ac:spMkLst>
        </pc:spChg>
        <pc:spChg chg="add">
          <ac:chgData name="adali siwar" userId="3aca83244d99da43" providerId="LiveId" clId="{A27E7B51-5BEE-437D-9FF7-18A5F3DAD691}" dt="2026-08-14T10:35:39.417" v="3" actId="26606"/>
          <ac:spMkLst>
            <pc:docMk/>
            <pc:sldMk cId="265499982" sldId="270"/>
            <ac:spMk id="12" creationId="{2633B3B5-CC90-43F0-8714-D31D1F3F0209}"/>
          </ac:spMkLst>
        </pc:spChg>
        <pc:spChg chg="add">
          <ac:chgData name="adali siwar" userId="3aca83244d99da43" providerId="LiveId" clId="{A27E7B51-5BEE-437D-9FF7-18A5F3DAD691}" dt="2026-08-14T10:35:39.417" v="3" actId="26606"/>
          <ac:spMkLst>
            <pc:docMk/>
            <pc:sldMk cId="265499982" sldId="270"/>
            <ac:spMk id="14" creationId="{A8D57A06-A426-446D-B02C-A2DC6B62E45E}"/>
          </ac:spMkLst>
        </pc:spChg>
        <pc:picChg chg="add mod">
          <ac:chgData name="adali siwar" userId="3aca83244d99da43" providerId="LiveId" clId="{A27E7B51-5BEE-437D-9FF7-18A5F3DAD691}" dt="2026-08-14T10:35:39.417" v="3" actId="26606"/>
          <ac:picMkLst>
            <pc:docMk/>
            <pc:sldMk cId="265499982" sldId="270"/>
            <ac:picMk id="3" creationId="{2FB0D9F2-A8C5-C17B-BDFA-EE8899F4FA1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515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D'ÉTÉ — DAZZLIFAI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RAG pour l'automatisation du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des factures et devis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93333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— Sprint 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39053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 vectorielle &amp; recherche hybride  (Task 81 · Task 82)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5939174"/>
            <a:ext cx="9875520" cy="0"/>
          </a:xfrm>
          <a:prstGeom prst="line">
            <a:avLst/>
          </a:prstGeom>
          <a:noFill/>
          <a:ln w="12700">
            <a:solidFill>
              <a:srgbClr val="3C4F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897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Siwar ADALI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6199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Étudiante en Génie Informatique — ENIS  |  Dazzlifai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Donner une mémoire interrogeable à l'agent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socle relationnel (Neon PostgreSQL) est en place depuis le sprint précédent. Ce sprint ajoute la couche sémantique : rendre les factures indexées et interrogeables en langage naturel.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2825496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A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34840" y="28254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 vectorielle des factures traitées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 le contenu des factures dans une base vectorielle et permettre leur interrogation.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51460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37960" y="278892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2788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149840" y="2825496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49840" y="28254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37960" y="33832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d'un LLM local pour les requêtes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425196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un LLM open source local (Ollama) pour générer des réponses aux requêtes sur les factures indexées.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Neon + pgvector plutôt que Chroma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Task 81 prévoyait une base vectorielle locale (Chroma). Après exploration technique, ce choix a été révisé dès le démarrage du sprint — voici pourquoi.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908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(prévu initialement)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0" y="219456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+ pgvector (retenu)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91672" cy="5669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avec les données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9080" y="26517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séparée des données structurées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01000" y="2651760"/>
            <a:ext cx="3502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base que document, fournisseur, statut…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72968"/>
            <a:ext cx="11091672" cy="621792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21868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hybride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69080" y="321868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 seul — filtres et texte à assembler à la main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01000" y="3218688"/>
            <a:ext cx="3502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: vecteur + SQL + full-text + RRF en une requête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1091672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désynchronisation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6908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 — deux systèmes à tenir à jour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01000" y="384048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— source unique de vérité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11091672" cy="56692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43891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à opérer en plus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69080" y="43891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Chroma à installer et maintenir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01000" y="4389120"/>
            <a:ext cx="3502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— déjà dans la stack Postgres en place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660136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575157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décisif : </a:t>
            </a:r>
            <a:r>
              <a:rPr lang="en-US" sz="1200" dirty="0">
                <a:solidFill>
                  <a:srgbClr val="5A4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répond en une seule requête SQL à des questions métier complexes (année + statut + fournisseur + agrégation) — impossible nativement avec Chroma seul.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DE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base entièrement indexée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du jeu de factures traité (1 306 documents) dispose désormais de son embedding vectoriel, prêt pour la recherche sémantique — sans rupture avec les tables relationnelles déjà en place.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-1422400" y="61539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document_embedding : 1 306 lignes, une pour chaque document indexé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80C2115A-5CF7-EB5F-B774-9B26AFFD4DE6}"/>
              </a:ext>
            </a:extLst>
          </p:cNvPr>
          <p:cNvSpPr/>
          <p:nvPr/>
        </p:nvSpPr>
        <p:spPr>
          <a:xfrm>
            <a:off x="7975600" y="2892159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929354AD-124B-E40B-9155-60B7B6516349}"/>
              </a:ext>
            </a:extLst>
          </p:cNvPr>
          <p:cNvSpPr/>
          <p:nvPr/>
        </p:nvSpPr>
        <p:spPr>
          <a:xfrm>
            <a:off x="7975600" y="2892159"/>
            <a:ext cx="73152" cy="2148840"/>
          </a:xfrm>
          <a:prstGeom prst="roundRect">
            <a:avLst/>
          </a:prstGeom>
          <a:solidFill>
            <a:srgbClr val="3C4F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E081CD74-5088-E1B6-99FC-AA3F2C68551D}"/>
              </a:ext>
            </a:extLst>
          </p:cNvPr>
          <p:cNvSpPr/>
          <p:nvPr/>
        </p:nvSpPr>
        <p:spPr>
          <a:xfrm>
            <a:off x="8249920" y="3056751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C4F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1536</a:t>
            </a:r>
            <a:endParaRPr lang="en-US" sz="34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89184202-C4D3-E790-E772-A7CCAE714D00}"/>
              </a:ext>
            </a:extLst>
          </p:cNvPr>
          <p:cNvSpPr/>
          <p:nvPr/>
        </p:nvSpPr>
        <p:spPr>
          <a:xfrm>
            <a:off x="8249920" y="3733407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par vecteur</a:t>
            </a:r>
            <a:endParaRPr lang="en-US" sz="125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557D86E8-FF50-2832-516C-21711119EE79}"/>
              </a:ext>
            </a:extLst>
          </p:cNvPr>
          <p:cNvSpPr/>
          <p:nvPr/>
        </p:nvSpPr>
        <p:spPr>
          <a:xfrm>
            <a:off x="8249920" y="4245471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6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générés avec gemini-embedding-001, stockés dans document_embedding</a:t>
            </a:r>
            <a:endParaRPr lang="en-US" sz="96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3897EB-7581-77DF-5D90-4CE682EDA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96767"/>
            <a:ext cx="6986623" cy="35393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B0D9F2-A8C5-C17B-BDFA-EE8899F4F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90219"/>
            <a:ext cx="11277600" cy="487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9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a été livré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une itération, une couche de recherche sémantique complète a été conçue, implémentée et validée — sans dépendance externe supplémentaire.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093976"/>
            <a:ext cx="329184" cy="329184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93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02082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document_embedding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240487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1536 dimensions (gemini-embedding-001), liée à document par clé étrangère.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2093976"/>
            <a:ext cx="329184" cy="329184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20939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49440" y="202082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HNSW optimisé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49440" y="240487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16, ef_construction = 100 — recherche de similarité rapide même à grande échelle.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19856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3639312"/>
            <a:ext cx="329184" cy="329184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566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embedding_documents.py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34440" y="39502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 chunks riches (fournisseur, client, montants, lignes, statut) et insertion avec gestion ON CONFLICT.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419856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92240" y="3639312"/>
            <a:ext cx="329184" cy="329184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9224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3566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search_embeddings.py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49440" y="395020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hybride : similarité vectorielle + filtres SQL + full-text + agrégations automatiques (SUM/COUNT).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965192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7240" y="5184648"/>
            <a:ext cx="329184" cy="329184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5184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511149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optimisé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34440" y="5495544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générée chunk_tsv (tsvector) + index GIN pour accélérer la recherche textuelle.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4965192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92240" y="5184648"/>
            <a:ext cx="329184" cy="329184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92240" y="5184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511149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validés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949440" y="5495544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types de questions couverts : statut, année, montant total, fournisseur.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DE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Recherche vectorielle pure — premiers tests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Montant total des factures de 2018 »</a:t>
            </a:r>
            <a:endParaRPr lang="en-US" sz="1250" dirty="0"/>
          </a:p>
        </p:txBody>
      </p:sp>
      <p:pic>
        <p:nvPicPr>
          <p:cNvPr id="5" name="Image 0" descr="exemple_de_recherch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35" y="1828800"/>
            <a:ext cx="5058369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72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Similarité : 0.7153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30936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Factures avec statut Anomalie montant »</a:t>
            </a:r>
            <a:endParaRPr lang="en-US" sz="1250" dirty="0"/>
          </a:p>
        </p:txBody>
      </p:sp>
      <p:pic>
        <p:nvPicPr>
          <p:cNvPr id="8" name="Image 1" descr="exemple_de_recherch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651" y="1828800"/>
            <a:ext cx="3932377" cy="4297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6172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Similarité : 0.7655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Anatomie d'une recherche hybride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question est décomposée automatiquement en filtres structurés (année, statut, fournisseur) et en signal sémantique, puis les deux sont combinés pour produire une réponse — ou un calcul — fiable.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6309360" cy="3803158"/>
          </a:xfrm>
          <a:prstGeom prst="roundRect">
            <a:avLst>
              <a:gd name="adj" fmla="val 153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DE QUESTIONS TESTÉES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3127248"/>
            <a:ext cx="5760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3127248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Factures avec statut Anomalie montant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5760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Montant total des factures de 2018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370832"/>
            <a:ext cx="5760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4370832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Factures de 2018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992624"/>
            <a:ext cx="5760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4992624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Factures du fournisseur Stein-Fernandez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614416"/>
            <a:ext cx="5760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5614416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Factures contenant "Pass high main stage"</a:t>
            </a:r>
            <a:endParaRPr lang="en-US" sz="1150" dirty="0"/>
          </a:p>
        </p:txBody>
      </p:sp>
      <p:pic>
        <p:nvPicPr>
          <p:cNvPr id="17" name="Image 0" descr="hybrid_search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248" y="1508760"/>
            <a:ext cx="3247583" cy="4754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DE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Recherche hybride — agrégations automatiques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est analysée pour détecter les filtres et le type d'agrégation attendu (SUM ou COUNT), puis traduite en requête SQL exécutée sur Neon.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Montant total des factures de 2018 »  →  SUM</a:t>
            </a:r>
            <a:endParaRPr lang="en-US" sz="1200" dirty="0"/>
          </a:p>
        </p:txBody>
      </p:sp>
      <p:pic>
        <p:nvPicPr>
          <p:cNvPr id="6" name="Image 0" descr="recherche_updat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0"/>
            <a:ext cx="3007360" cy="1920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77640" y="2286000"/>
            <a:ext cx="7178040" cy="192024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251960" y="24505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D'AGRÉGATION (SQL + FILTRES)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5196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C4F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251960" y="33101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8932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C4F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29 569,75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989320" y="33101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TTC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2668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C4F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21 709,64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726680" y="33101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46404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C4F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1 143,31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464040" y="33101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TVA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51960" y="37947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détecté automatiquement : year = 2018, is_aggregation = true, agg_type = sum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711960" y="504748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Nombre de factures avec anomalie montant »  →  COUNT</a:t>
            </a:r>
            <a:endParaRPr lang="en-US" sz="1080" dirty="0"/>
          </a:p>
        </p:txBody>
      </p:sp>
      <p:pic>
        <p:nvPicPr>
          <p:cNvPr id="19" name="Image 1" descr="recherche_updat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34" y="4386762"/>
            <a:ext cx="4114846" cy="21992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41F4C10A-9EC1-A1B0-7AEF-D814B506BFBD}"/>
              </a:ext>
            </a:extLst>
          </p:cNvPr>
          <p:cNvCxnSpPr>
            <a:endCxn id="19" idx="1"/>
          </p:cNvCxnSpPr>
          <p:nvPr/>
        </p:nvCxnSpPr>
        <p:spPr>
          <a:xfrm>
            <a:off x="5431536" y="5285232"/>
            <a:ext cx="1609298" cy="201168"/>
          </a:xfrm>
          <a:prstGeom prst="bentConnector3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DE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Vérification croisée dans Neon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de la recherche hybride (1 294 factures « anomalie montant ») est recoupé directement dans les tables Neon : 892 documents au statut exact, plus 403 au statut cumulatif « montant + date » — soit 1 295, à un document près.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= Anomalie montant</a:t>
            </a:r>
            <a:endParaRPr lang="en-US" sz="1150" dirty="0"/>
          </a:p>
        </p:txBody>
      </p:sp>
      <p:pic>
        <p:nvPicPr>
          <p:cNvPr id="6" name="Image 0" descr="verif_statut_si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56163"/>
            <a:ext cx="4706266" cy="3127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5718" y="5913425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892 documents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249224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= Anomalie montant + date</a:t>
            </a:r>
            <a:endParaRPr lang="en-US" sz="1150" dirty="0"/>
          </a:p>
        </p:txBody>
      </p:sp>
      <p:pic>
        <p:nvPicPr>
          <p:cNvPr id="9" name="Image 1" descr="verif_statut_comb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507" y="2743199"/>
            <a:ext cx="4772877" cy="31400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32535" y="591486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documents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527B32F-07F3-4C94-B09B-8C8F310F0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"/>
            <a:ext cx="768096" cy="6089895"/>
          </a:xfrm>
          <a:prstGeom prst="rect">
            <a:avLst/>
          </a:prstGeom>
          <a:solidFill>
            <a:srgbClr val="363A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2" descr="verif_fournisseur.png">
            <a:extLst>
              <a:ext uri="{FF2B5EF4-FFF2-40B4-BE49-F238E27FC236}">
                <a16:creationId xmlns:a16="http://schemas.microsoft.com/office/drawing/2014/main" id="{6C8F06CD-FE5F-1E24-31F9-279A84D211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10" r="1" b="7941"/>
          <a:stretch>
            <a:fillRect/>
          </a:stretch>
        </p:blipFill>
        <p:spPr>
          <a:xfrm>
            <a:off x="6088088" y="3264090"/>
            <a:ext cx="6103911" cy="3593910"/>
          </a:xfrm>
          <a:prstGeom prst="rect">
            <a:avLst/>
          </a:prstGeom>
        </p:spPr>
      </p:pic>
      <p:pic>
        <p:nvPicPr>
          <p:cNvPr id="3" name="Image 2" descr="recherche_update3.png">
            <a:extLst>
              <a:ext uri="{FF2B5EF4-FFF2-40B4-BE49-F238E27FC236}">
                <a16:creationId xmlns:a16="http://schemas.microsoft.com/office/drawing/2014/main" id="{4DE16592-20DD-9398-A130-449E8257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826"/>
          <a:stretch>
            <a:fillRect/>
          </a:stretch>
        </p:blipFill>
        <p:spPr>
          <a:xfrm>
            <a:off x="926036" y="9"/>
            <a:ext cx="7279913" cy="3895335"/>
          </a:xfrm>
          <a:custGeom>
            <a:avLst/>
            <a:gdLst/>
            <a:ahLst/>
            <a:cxnLst/>
            <a:rect l="l" t="t" r="r" b="b"/>
            <a:pathLst>
              <a:path w="7279913" h="3895335">
                <a:moveTo>
                  <a:pt x="0" y="0"/>
                </a:moveTo>
                <a:lnTo>
                  <a:pt x="7279913" y="0"/>
                </a:lnTo>
                <a:lnTo>
                  <a:pt x="7279913" y="3116976"/>
                </a:lnTo>
                <a:lnTo>
                  <a:pt x="5011287" y="3116976"/>
                </a:lnTo>
                <a:lnTo>
                  <a:pt x="5011287" y="3895335"/>
                </a:lnTo>
                <a:lnTo>
                  <a:pt x="0" y="3895335"/>
                </a:lnTo>
                <a:close/>
              </a:path>
            </a:pathLst>
          </a:cu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F41D4CC-403D-465E-9223-3277868A5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41417" y="643467"/>
            <a:ext cx="3850583" cy="2473517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C4C688-715E-4A31-AB90-6A5752887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6036" y="4069422"/>
            <a:ext cx="5001186" cy="2020482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CF46932D-6E19-F224-C3AE-35B56A88CAFB}"/>
              </a:ext>
            </a:extLst>
          </p:cNvPr>
          <p:cNvSpPr/>
          <p:nvPr/>
        </p:nvSpPr>
        <p:spPr>
          <a:xfrm>
            <a:off x="1485163" y="420624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Nombre de factures du fournisseur Stein-Fernandez »  →  COUNT</a:t>
            </a:r>
            <a:endParaRPr lang="en-US" sz="1080" dirty="0"/>
          </a:p>
        </p:txBody>
      </p:sp>
    </p:spTree>
    <p:extLst>
      <p:ext uri="{BB962C8B-B14F-4D97-AF65-F5344CB8AC3E}">
        <p14:creationId xmlns:p14="http://schemas.microsoft.com/office/powerpoint/2010/main" val="2848287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DES TRAVAUX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81 — Indexation vectorielle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plus ancien au plus récent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2139696"/>
            <a:ext cx="0" cy="685800"/>
          </a:xfrm>
          <a:prstGeom prst="line">
            <a:avLst/>
          </a:prstGeom>
          <a:noFill/>
          <a:ln w="165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181051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4E8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3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14600" y="1764792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de la base vectorielle sur Neon avec pgvector : création de la table document_embedding (document_id, chunk_text, embedding VECTOR(1536)), activation de l'extension vector et clé étrangère vers document.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48640" y="258775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587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2916936"/>
            <a:ext cx="0" cy="685800"/>
          </a:xfrm>
          <a:prstGeom prst="line">
            <a:avLst/>
          </a:prstGeom>
          <a:noFill/>
          <a:ln w="165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05840" y="258775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4E8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2587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3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14600" y="2542032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du script embedding_documents.py : construction des chunks à partir des données structurées, génération des embeddings avec gemini-embedding-001 et insertion dans Neon (gestion du ON CONFLICT).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548640" y="336499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" y="3694176"/>
            <a:ext cx="0" cy="685800"/>
          </a:xfrm>
          <a:prstGeom prst="line">
            <a:avLst/>
          </a:prstGeom>
          <a:noFill/>
          <a:ln w="165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336499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4E8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3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14600" y="3319272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et optimisation de l'index HNSW (m=16, ef_construction=100) ; vérification de la dimension des vecteurs et tests de performance basiques.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48640" y="414223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4142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" y="4471416"/>
            <a:ext cx="0" cy="685800"/>
          </a:xfrm>
          <a:prstGeom prst="line">
            <a:avLst/>
          </a:prstGeom>
          <a:noFill/>
          <a:ln w="165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5840" y="414223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A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" y="4142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14600" y="4096512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du script de recherche search_embeddings.py (recherche pure vectorielle) ; tests sur plusieurs questions et analyse des scores de similarité (≈ 0,71 – 0,76).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548640" y="491947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4919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3232" y="5248656"/>
            <a:ext cx="0" cy="685800"/>
          </a:xfrm>
          <a:prstGeom prst="line">
            <a:avLst/>
          </a:prstGeom>
          <a:noFill/>
          <a:ln w="1651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05840" y="491947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4E8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05840" y="4919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3C4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14600" y="4873752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Combinaison similarité vectorielle + filtres SQL structurés + full-text search (Reciprocal Rank Fusion) ; ajout de la détection automatique des questions d'agrégation (SUM/COUNT).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548640" y="569671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5696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05840" y="569671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05840" y="5696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514600" y="5650992"/>
            <a:ext cx="9052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(Optionnel) Création de la colonne générée chunk_tsv (tsvector) + index GIN pour accélérer le full-text search ; ajustements et nouveaux tests de requêtes hybrides.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couche de retrieval hybride étant validée, la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suivante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peut s'appuyer dessus pour générer des réponses complètes en langage naturel.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347394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362171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C4F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6217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21607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Ollama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58183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un LLM local (open source) pour générer des réponses à partir des documents retrouvés.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3347394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37960" y="362171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C4F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36217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421607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sur cas réel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458183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question de référence : « factures impayées du fournisseur X » → réponse cohérente.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RAG — Traitement Factures &amp; Devis  |  Dazzlifai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1205</Words>
  <Application>Microsoft Office PowerPoint</Application>
  <PresentationFormat>Widescreen</PresentationFormat>
  <Paragraphs>164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adali siwar</cp:lastModifiedBy>
  <cp:revision>2</cp:revision>
  <dcterms:created xsi:type="dcterms:W3CDTF">2026-08-14T08:11:28Z</dcterms:created>
  <dcterms:modified xsi:type="dcterms:W3CDTF">2026-09-03T08:52:57Z</dcterms:modified>
</cp:coreProperties>
</file>