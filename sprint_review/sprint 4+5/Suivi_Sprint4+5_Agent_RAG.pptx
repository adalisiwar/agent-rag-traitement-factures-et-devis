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4" r:id="rId4"/>
    <p:sldId id="266" r:id="rId5"/>
    <p:sldId id="259" r:id="rId6"/>
    <p:sldId id="260" r:id="rId7"/>
    <p:sldId id="272" r:id="rId8"/>
    <p:sldId id="274" r:id="rId9"/>
    <p:sldId id="262" r:id="rId10"/>
    <p:sldId id="263" r:id="rId11"/>
    <p:sldId id="265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877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>
            <a:extLst>
              <a:ext uri="{FF2B5EF4-FFF2-40B4-BE49-F238E27FC236}">
                <a16:creationId xmlns:a16="http://schemas.microsoft.com/office/drawing/2014/main" id="{D6D11739-1D26-6CEB-DBE6-D79CD9911178}"/>
              </a:ext>
            </a:extLst>
          </p:cNvPr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BEFAF476-B8EF-422E-898F-1735381E3833}"/>
              </a:ext>
            </a:extLst>
          </p:cNvPr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2735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A8EE9423-69EB-DA6D-5E43-C0B81E996882}"/>
              </a:ext>
            </a:extLst>
          </p:cNvPr>
          <p:cNvSpPr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D'ÉTÉ — DAZZLIFAI</a:t>
            </a:r>
            <a:endParaRPr lang="en-US" sz="1400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626F89E1-1134-D461-F2EC-365E3EE4B18D}"/>
              </a:ext>
            </a:extLst>
          </p:cNvPr>
          <p:cNvSpPr/>
          <p:nvPr/>
        </p:nvSpPr>
        <p:spPr>
          <a:xfrm>
            <a:off x="731520" y="19659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RAG pour l'automatisation du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traitement des factures et devis</a:t>
            </a:r>
            <a:endParaRPr lang="en-US" sz="38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5A6F3FAD-0331-DCC9-A67D-831D38F8BBA8}"/>
              </a:ext>
            </a:extLst>
          </p:cNvPr>
          <p:cNvSpPr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— Sprint 4 + 5</a:t>
            </a:r>
            <a:endParaRPr lang="en-US" sz="20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95FDFA61-5F5F-3EC6-9478-4CABD53F0479}"/>
              </a:ext>
            </a:extLst>
          </p:cNvPr>
          <p:cNvSpPr/>
          <p:nvPr/>
        </p:nvSpPr>
        <p:spPr>
          <a:xfrm>
            <a:off x="73152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Power Automate,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données &amp; intégration du stockage </a:t>
            </a:r>
            <a:endParaRPr lang="en-US" sz="1300" dirty="0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8458DF23-5AD8-FE62-9B55-EC5E9BB0EB0A}"/>
              </a:ext>
            </a:extLst>
          </p:cNvPr>
          <p:cNvSpPr/>
          <p:nvPr/>
        </p:nvSpPr>
        <p:spPr>
          <a:xfrm>
            <a:off x="777240" y="489204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66C100AD-917D-0AEE-0CD0-017ECF3229DA}"/>
              </a:ext>
            </a:extLst>
          </p:cNvPr>
          <p:cNvSpPr/>
          <p:nvPr/>
        </p:nvSpPr>
        <p:spPr>
          <a:xfrm>
            <a:off x="73152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Siwar ADALI</a:t>
            </a:r>
            <a:endParaRPr lang="en-US" sz="1400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B5E17601-7615-77B4-BAD9-1D41C21961EC}"/>
              </a:ext>
            </a:extLst>
          </p:cNvPr>
          <p:cNvSpPr/>
          <p:nvPr/>
        </p:nvSpPr>
        <p:spPr>
          <a:xfrm>
            <a:off x="731520" y="53766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Étudiante en Génie Informatique — ENIS  |  Dazzlifai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prototype au socle de données fiable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sprints précédents ont validé l'extraction (AI Builder) et la fiabilisation du flow (anomalies, doublons, erreurs). Il manquait encore une mémoire durable et </a:t>
            </a:r>
            <a:r>
              <a:rPr lang="en-US" sz="1300" dirty="0" err="1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interrogeable</a:t>
            </a: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6959B6CF-0209-1F8B-F927-7E1A69641690}"/>
              </a:ext>
            </a:extLst>
          </p:cNvPr>
          <p:cNvSpPr/>
          <p:nvPr/>
        </p:nvSpPr>
        <p:spPr>
          <a:xfrm>
            <a:off x="548640" y="246606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ce sprint a livré, en chiffres</a:t>
            </a:r>
            <a:endParaRPr lang="en-US" sz="2800"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354A0057-43A5-CB60-62F3-769380BF32D8}"/>
              </a:ext>
            </a:extLst>
          </p:cNvPr>
          <p:cNvSpPr/>
          <p:nvPr/>
        </p:nvSpPr>
        <p:spPr>
          <a:xfrm>
            <a:off x="548640" y="3471904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FB5CB11A-D73E-8D83-E552-7CA76A27CB86}"/>
              </a:ext>
            </a:extLst>
          </p:cNvPr>
          <p:cNvSpPr/>
          <p:nvPr/>
        </p:nvSpPr>
        <p:spPr>
          <a:xfrm>
            <a:off x="548640" y="3471904"/>
            <a:ext cx="73152" cy="2148840"/>
          </a:xfrm>
          <a:prstGeom prst="round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76B26F13-02D6-47C0-F080-934FD475E6B4}"/>
              </a:ext>
            </a:extLst>
          </p:cNvPr>
          <p:cNvSpPr/>
          <p:nvPr/>
        </p:nvSpPr>
        <p:spPr>
          <a:xfrm>
            <a:off x="822960" y="363649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8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AB81D3AD-9FD0-6F29-16F6-6E8A309A8D5B}"/>
              </a:ext>
            </a:extLst>
          </p:cNvPr>
          <p:cNvSpPr/>
          <p:nvPr/>
        </p:nvSpPr>
        <p:spPr>
          <a:xfrm>
            <a:off x="822960" y="4313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relationnelles</a:t>
            </a:r>
            <a:endParaRPr lang="en-US" sz="125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54EEA6CD-60C5-C2B8-EDB2-3E45F9F6440C}"/>
              </a:ext>
            </a:extLst>
          </p:cNvPr>
          <p:cNvSpPr/>
          <p:nvPr/>
        </p:nvSpPr>
        <p:spPr>
          <a:xfrm>
            <a:off x="822960" y="48252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fournisseur, document, ligne_document, statut, journal_erreurs, document_embedding</a:t>
            </a:r>
            <a:endParaRPr lang="en-US" sz="980" dirty="0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84FC4326-A233-3849-9157-03C66A2957B0}"/>
              </a:ext>
            </a:extLst>
          </p:cNvPr>
          <p:cNvSpPr/>
          <p:nvPr/>
        </p:nvSpPr>
        <p:spPr>
          <a:xfrm>
            <a:off x="4297680" y="3471904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7B8A0ED7-F522-2F42-CCD1-C41CC9746547}"/>
              </a:ext>
            </a:extLst>
          </p:cNvPr>
          <p:cNvSpPr/>
          <p:nvPr/>
        </p:nvSpPr>
        <p:spPr>
          <a:xfrm>
            <a:off x="4297680" y="3471904"/>
            <a:ext cx="73152" cy="2148840"/>
          </a:xfrm>
          <a:prstGeom prst="roundRect">
            <a:avLst/>
          </a:prstGeom>
          <a:solidFill>
            <a:srgbClr val="3C4F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4BBE90A1-7732-0BD0-3BB0-63A71637BAB5}"/>
              </a:ext>
            </a:extLst>
          </p:cNvPr>
          <p:cNvSpPr/>
          <p:nvPr/>
        </p:nvSpPr>
        <p:spPr>
          <a:xfrm>
            <a:off x="4572000" y="363649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C4F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80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3EAD2051-BE41-0D38-137E-ED5CA981273F}"/>
              </a:ext>
            </a:extLst>
          </p:cNvPr>
          <p:cNvSpPr/>
          <p:nvPr/>
        </p:nvSpPr>
        <p:spPr>
          <a:xfrm>
            <a:off x="4572000" y="4313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index, dont 1 index vectoriel</a:t>
            </a:r>
            <a:endParaRPr lang="en-US" sz="125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87C36985-0453-0472-B052-6D8534EE396D}"/>
              </a:ext>
            </a:extLst>
          </p:cNvPr>
          <p:cNvSpPr/>
          <p:nvPr/>
        </p:nvSpPr>
        <p:spPr>
          <a:xfrm>
            <a:off x="4572000" y="48252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ivfflat sur pgvector — prêt pour la recherche sémantique RAG</a:t>
            </a:r>
            <a:endParaRPr lang="en-US" sz="980" dirty="0"/>
          </a:p>
        </p:txBody>
      </p:sp>
      <p:sp>
        <p:nvSpPr>
          <p:cNvPr id="54" name="Shape 22">
            <a:extLst>
              <a:ext uri="{FF2B5EF4-FFF2-40B4-BE49-F238E27FC236}">
                <a16:creationId xmlns:a16="http://schemas.microsoft.com/office/drawing/2014/main" id="{79D2C1DD-9CA2-AE33-2540-ADD64455A920}"/>
              </a:ext>
            </a:extLst>
          </p:cNvPr>
          <p:cNvSpPr/>
          <p:nvPr/>
        </p:nvSpPr>
        <p:spPr>
          <a:xfrm>
            <a:off x="8040293" y="3469468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23">
            <a:extLst>
              <a:ext uri="{FF2B5EF4-FFF2-40B4-BE49-F238E27FC236}">
                <a16:creationId xmlns:a16="http://schemas.microsoft.com/office/drawing/2014/main" id="{3684F604-50CB-319B-70A2-CC4471728CD6}"/>
              </a:ext>
            </a:extLst>
          </p:cNvPr>
          <p:cNvSpPr/>
          <p:nvPr/>
        </p:nvSpPr>
        <p:spPr>
          <a:xfrm>
            <a:off x="8040293" y="3469468"/>
            <a:ext cx="73152" cy="2148840"/>
          </a:xfrm>
          <a:prstGeom prst="roundRect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F7F972A0-38F8-A69B-E59E-FD2C7056727F}"/>
              </a:ext>
            </a:extLst>
          </p:cNvPr>
          <p:cNvSpPr/>
          <p:nvPr/>
        </p:nvSpPr>
        <p:spPr>
          <a:xfrm>
            <a:off x="8314613" y="36340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>
              <a:solidFill>
                <a:srgbClr val="00B050"/>
              </a:solidFill>
            </a:endParaRPr>
          </a:p>
        </p:txBody>
      </p:sp>
      <p:sp>
        <p:nvSpPr>
          <p:cNvPr id="60" name="Text 25">
            <a:extLst>
              <a:ext uri="{FF2B5EF4-FFF2-40B4-BE49-F238E27FC236}">
                <a16:creationId xmlns:a16="http://schemas.microsoft.com/office/drawing/2014/main" id="{AE552F1A-BEA0-5741-AF4A-A83DEF16CE1D}"/>
              </a:ext>
            </a:extLst>
          </p:cNvPr>
          <p:cNvSpPr/>
          <p:nvPr/>
        </p:nvSpPr>
        <p:spPr>
          <a:xfrm>
            <a:off x="8314613" y="431071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critiques diagnostiqués et corrigés</a:t>
            </a:r>
            <a:endParaRPr lang="en-US" sz="1250" dirty="0"/>
          </a:p>
        </p:txBody>
      </p:sp>
      <p:sp>
        <p:nvSpPr>
          <p:cNvPr id="62" name="Text 26">
            <a:extLst>
              <a:ext uri="{FF2B5EF4-FFF2-40B4-BE49-F238E27FC236}">
                <a16:creationId xmlns:a16="http://schemas.microsoft.com/office/drawing/2014/main" id="{21DD2FAD-CB54-D3B4-254E-C97E609A07B4}"/>
              </a:ext>
            </a:extLst>
          </p:cNvPr>
          <p:cNvSpPr/>
          <p:nvPr/>
        </p:nvSpPr>
        <p:spPr>
          <a:xfrm>
            <a:off x="8314613" y="48227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infinie SharePoint, conflit de nommage doublons, insertion multi-lignes</a:t>
            </a:r>
            <a:endParaRPr lang="en-US" sz="9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vers SharePoint 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956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</a:rPr>
              <a:t>pour</a:t>
            </a:r>
            <a:r>
              <a:rPr lang="en-US" sz="20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</a:rPr>
              <a:t>le stockage des </a:t>
            </a:r>
            <a:r>
              <a:rPr lang="en-US" sz="2000" b="1" dirty="0" err="1">
                <a:solidFill>
                  <a:srgbClr val="141B4D"/>
                </a:solidFill>
                <a:latin typeface="Cambria" pitchFamily="34" charset="0"/>
                <a:ea typeface="Cambria" pitchFamily="34" charset="-122"/>
              </a:rPr>
              <a:t>fichiers</a:t>
            </a:r>
            <a:r>
              <a:rPr lang="en-US" sz="2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</a:rPr>
              <a:t> et le </a:t>
            </a:r>
            <a:r>
              <a:rPr lang="en-US" sz="2000" b="1" dirty="0" err="1">
                <a:solidFill>
                  <a:srgbClr val="141B4D"/>
                </a:solidFill>
                <a:latin typeface="Cambria" pitchFamily="34" charset="0"/>
                <a:ea typeface="Cambria" pitchFamily="34" charset="-122"/>
              </a:rPr>
              <a:t>déclenchement</a:t>
            </a:r>
            <a:r>
              <a:rPr lang="en-US" sz="2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</a:rPr>
              <a:t> des deux flows (Factures et Devis) </a:t>
            </a:r>
          </a:p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</a:rPr>
              <a:t>— un socle </a:t>
            </a:r>
            <a:r>
              <a:rPr lang="en-US" sz="2000" b="1" dirty="0" err="1">
                <a:solidFill>
                  <a:srgbClr val="141B4D"/>
                </a:solidFill>
                <a:latin typeface="Cambria" pitchFamily="34" charset="0"/>
                <a:ea typeface="Cambria" pitchFamily="34" charset="-122"/>
              </a:rPr>
              <a:t>unifié</a:t>
            </a:r>
            <a:r>
              <a:rPr lang="en-US" sz="2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</a:rPr>
              <a:t> pour les deux pipelines</a:t>
            </a:r>
            <a:r>
              <a:rPr lang="en-US" sz="20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451869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118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du déclencheur OneDrive vers SharePoint (« Quand un fichier est créé — propriétés uniquement »).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548640" y="428205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FDEE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428205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CRITIQUE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4592946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US" sz="118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et correction d'un bug de redéclenchement multiple du trigger SharePoint (boucle infinie) — un défaut qui aurait pu saturer le flow en production.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548640" y="510186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US" sz="118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et correction du conflit de nommage sur les fichiers doublons (Excel + SharePoint).</a:t>
            </a:r>
            <a:endParaRPr lang="en-US" sz="1180" dirty="0"/>
          </a:p>
        </p:txBody>
      </p:sp>
      <p:pic>
        <p:nvPicPr>
          <p:cNvPr id="16" name="Image 0" descr="flux_devis_doublon_share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009" y="1508760"/>
            <a:ext cx="2872862" cy="42062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223760" y="57698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Devis — gestion des doublons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B14B0145-5388-0107-49D7-F0ACDF7E5E2A}"/>
              </a:ext>
            </a:extLst>
          </p:cNvPr>
          <p:cNvSpPr/>
          <p:nvPr/>
        </p:nvSpPr>
        <p:spPr>
          <a:xfrm>
            <a:off x="548640" y="2183047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E4E8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E6990C5C-091B-D561-FD21-A2CD4A5AF253}"/>
              </a:ext>
            </a:extLst>
          </p:cNvPr>
          <p:cNvSpPr/>
          <p:nvPr/>
        </p:nvSpPr>
        <p:spPr>
          <a:xfrm>
            <a:off x="548640" y="2183047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3C4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85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4037D190-6B18-0888-24F9-2D7D07893E7F}"/>
              </a:ext>
            </a:extLst>
          </p:cNvPr>
          <p:cNvSpPr/>
          <p:nvPr/>
        </p:nvSpPr>
        <p:spPr>
          <a:xfrm>
            <a:off x="548640" y="2946227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118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des expressions de nom de fichier et mise en place de la gestion de doublons.</a:t>
            </a:r>
            <a:endParaRPr lang="en-US" sz="11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DE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Doublons neutralisés, rien n'est perdu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8198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Lorsqu'un même document est déposé plusieurs fois, le flow le renomme automatiquement avec un préfixe </a:t>
            </a:r>
            <a:r>
              <a:rPr lang="en-US" sz="1300" dirty="0" err="1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copy_compteur</a:t>
            </a: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 :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traçabilité est préservée sans dupliquer les entrées en base.</a:t>
            </a:r>
            <a:endParaRPr lang="en-US" sz="1300" dirty="0"/>
          </a:p>
        </p:txBody>
      </p:sp>
      <p:pic>
        <p:nvPicPr>
          <p:cNvPr id="5" name="Image 0" descr="test_doublons_excel.png"/>
          <p:cNvPicPr>
            <a:picLocks noChangeAspect="1"/>
          </p:cNvPicPr>
          <p:nvPr/>
        </p:nvPicPr>
        <p:blipFill>
          <a:blip r:embed="rId3"/>
          <a:srcRect b="6313"/>
          <a:stretch>
            <a:fillRect/>
          </a:stretch>
        </p:blipFill>
        <p:spPr>
          <a:xfrm>
            <a:off x="548640" y="2935022"/>
            <a:ext cx="11064240" cy="25804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623499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Devis01.pdf déposé 3 fois → copy_1_Devis01.pdf, copy_2_Devis01.pdf tracés, sans doublon en base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</a:t>
            </a: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stockage 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(Neon) retenu pour le stockage structuré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3C4F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07008" y="1801368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Dataverse vs Postgres réalisée.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décisif : support natif de la recherche vectorielle via pgvector — indispensable pour la brique RAG à venir. Un choix qui engage l'architecture à long terme, pas seulement ce sprint.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384048" cy="384048"/>
          </a:xfrm>
          <a:prstGeom prst="ellipse">
            <a:avLst/>
          </a:prstGeom>
          <a:solidFill>
            <a:srgbClr val="3C4F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3172968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PostgreSQL choisi comme alternative cloud gratuite à Azure Database for PostgreSQL,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changement du modèle de données déjà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conçu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5" name="Picture 14" descr="BigDATAwire - Data Science • AI • Advanced Analytics">
            <a:extLst>
              <a:ext uri="{FF2B5EF4-FFF2-40B4-BE49-F238E27FC236}">
                <a16:creationId xmlns:a16="http://schemas.microsoft.com/office/drawing/2014/main" id="{1542CF51-43AC-7260-695A-EAE84443A6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151" b="23265"/>
          <a:stretch>
            <a:fillRect/>
          </a:stretch>
        </p:blipFill>
        <p:spPr>
          <a:xfrm>
            <a:off x="3431458" y="4333961"/>
            <a:ext cx="4876800" cy="1445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architecture pensée par couches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7784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73152" cy="1417320"/>
          </a:xfrm>
          <a:prstGeom prst="round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7099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 / client — </a:t>
            </a:r>
            <a:r>
              <a:rPr lang="en-US" sz="10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des tiers, contrainte unique anti-doublons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77240" y="24963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— </a:t>
            </a:r>
            <a:r>
              <a:rPr lang="en-US" sz="10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 des statuts (OK, anomalies...)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577840" cy="1417320"/>
          </a:xfrm>
          <a:prstGeom prst="roundRect">
            <a:avLst>
              <a:gd name="adj" fmla="val 4516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73152" cy="1417320"/>
          </a:xfrm>
          <a:prstGeom prst="roundRect">
            <a:avLst/>
          </a:prstGeom>
          <a:solidFill>
            <a:srgbClr val="3C4F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C4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MÉTIER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6393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— </a:t>
            </a:r>
            <a:r>
              <a:rPr lang="en-US" sz="10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centrale : montants, dates, scores de confiance, liens FK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77240" y="40965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ligne_document — </a:t>
            </a:r>
            <a:r>
              <a:rPr lang="en-US" sz="10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détail — gère nativement le multi-lignes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5577840" cy="1417320"/>
          </a:xfrm>
          <a:prstGeom prst="roundRect">
            <a:avLst>
              <a:gd name="adj" fmla="val 4516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73152" cy="1417320"/>
          </a:xfrm>
          <a:prstGeom prst="roundRect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910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&amp; RAG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52395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journal_erreurs — </a:t>
            </a:r>
            <a:r>
              <a:rPr lang="en-US" sz="10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des rejets (motif, horodatage)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77240" y="56967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document_embedding — </a:t>
            </a:r>
            <a:r>
              <a:rPr lang="en-US" sz="10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Vecteurs pgvector (1536 dims) — prépare la recherche RAG</a:t>
            </a:r>
            <a:endParaRPr lang="en-US" sz="1080" dirty="0"/>
          </a:p>
        </p:txBody>
      </p:sp>
      <p:pic>
        <p:nvPicPr>
          <p:cNvPr id="19" name="Image 0" descr="schema_neon_postg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973" y="1600200"/>
            <a:ext cx="2993014" cy="44805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15200" y="61356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 déployées sur l'instance Neon PostgreSQL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05D939-00C4-4F2E-9797-3170DD040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947301-CCF5-DEAC-2DBB-9571519B2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39203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8EE4E44-1403-472B-8C01-D354CB8F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0" descr="exemple_table_client.png">
            <a:extLst>
              <a:ext uri="{FF2B5EF4-FFF2-40B4-BE49-F238E27FC236}">
                <a16:creationId xmlns:a16="http://schemas.microsoft.com/office/drawing/2014/main" id="{9815A0B1-0DA9-A026-88ED-E861B8BD41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591" b="2"/>
          <a:stretch>
            <a:fillRect/>
          </a:stretch>
        </p:blipFill>
        <p:spPr>
          <a:xfrm>
            <a:off x="6421035" y="643467"/>
            <a:ext cx="5129784" cy="557106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83CCE40-4C5F-42D3-86D9-7892AD1E9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 1" descr="exemple_table_fournisseur.png">
            <a:extLst>
              <a:ext uri="{FF2B5EF4-FFF2-40B4-BE49-F238E27FC236}">
                <a16:creationId xmlns:a16="http://schemas.microsoft.com/office/drawing/2014/main" id="{55714017-74C4-8930-11D8-1E07FE8C0A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8" r="22586" b="1"/>
          <a:stretch>
            <a:fillRect/>
          </a:stretch>
        </p:blipFill>
        <p:spPr>
          <a:xfrm>
            <a:off x="641180" y="643467"/>
            <a:ext cx="512978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816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2FBCFE-8713-EE17-508E-83689DCDF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205D939-00C4-4F2E-9797-3170DD040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10CA2F-B9A5-F02E-41CF-C9DAEEA12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39203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8EE4E44-1403-472B-8C01-D354CB8F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 descr="exemple_table_statut.png">
            <a:extLst>
              <a:ext uri="{FF2B5EF4-FFF2-40B4-BE49-F238E27FC236}">
                <a16:creationId xmlns:a16="http://schemas.microsoft.com/office/drawing/2014/main" id="{1F1C4E9A-B1C4-1181-BFD1-C649F453A5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948"/>
          <a:stretch>
            <a:fillRect/>
          </a:stretch>
        </p:blipFill>
        <p:spPr>
          <a:xfrm>
            <a:off x="6421035" y="643467"/>
            <a:ext cx="5129784" cy="557106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83CCE40-4C5F-42D3-86D9-7892AD1E9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2" descr="exemple_table_ligne_document.png">
            <a:extLst>
              <a:ext uri="{FF2B5EF4-FFF2-40B4-BE49-F238E27FC236}">
                <a16:creationId xmlns:a16="http://schemas.microsoft.com/office/drawing/2014/main" id="{4A16FED4-2EB3-304D-298E-F49D4E3F16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9161"/>
          <a:stretch>
            <a:fillRect/>
          </a:stretch>
        </p:blipFill>
        <p:spPr>
          <a:xfrm>
            <a:off x="641545" y="643467"/>
            <a:ext cx="513830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16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de synthèse — le futur point d'entrée du RAG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vue SQL combine document, fournisseur, client et statut en une seule ligne lisible par document, triée par date de traitement décroissante.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120640" cy="2651760"/>
          </a:xfrm>
          <a:prstGeom prst="roundRect">
            <a:avLst>
              <a:gd name="adj" fmla="val 2069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AJOUTÉE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du reporting : consultation immédiate des documents traités et de leur statut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d'entrée naturel pour la brique RAG (recherche en langage naturel sur l'historique)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 la logique de jointure une seule fois, au lieu de la dupliquer dans chaque flow ou requête</a:t>
            </a:r>
            <a:endParaRPr lang="en-US" sz="1200" dirty="0"/>
          </a:p>
        </p:txBody>
      </p:sp>
      <p:pic>
        <p:nvPicPr>
          <p:cNvPr id="8" name="Image 0" descr="view_pour_synthe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939" y="1554480"/>
            <a:ext cx="4639483" cy="4206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0" y="58155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SQL de la vue v_document_synthese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Factures — de l'extraction à la donnée fiable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7286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E4E8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7286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3C4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2083758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25000"/>
              </a:lnSpc>
              <a:buFont typeface="Wingdings" panose="05000000000000000000" pitchFamily="2" charset="2"/>
              <a:buChar char="q"/>
            </a:pPr>
            <a:r>
              <a:rPr lang="en-US" sz="118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des actions d'insertion PostgreSQL statut / fournisseur / client / document / ligne_document dans la branche de traitement réussi.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548640" y="366813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FDEE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6681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CRITIQUE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3979028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structurelle : insertion de document déplacée hors de la boucle For each, insertion de ligne_document à l'intérieur — pour gérer correctement les factures multi-lignes.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548640" y="5118583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EA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5118583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8640" y="5429479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bout en bout sur facture multi-lignes : intégrité vérifiée via la vue v_document_synthese.</a:t>
            </a:r>
            <a:endParaRPr lang="en-US" sz="1180" dirty="0"/>
          </a:p>
        </p:txBody>
      </p:sp>
      <p:pic>
        <p:nvPicPr>
          <p:cNvPr id="16" name="Image 0" descr="flux_final_factures_postg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249" y="1508760"/>
            <a:ext cx="2414382" cy="42062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223760" y="57698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final — Factures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B92D3FCF-C31C-9A54-3E35-3E3074CDA278}"/>
              </a:ext>
            </a:extLst>
          </p:cNvPr>
          <p:cNvSpPr/>
          <p:nvPr/>
        </p:nvSpPr>
        <p:spPr>
          <a:xfrm>
            <a:off x="548640" y="2639478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25000"/>
              </a:lnSpc>
              <a:buFont typeface="Wingdings" panose="05000000000000000000" pitchFamily="2" charset="2"/>
              <a:buChar char="q"/>
            </a:pPr>
            <a:r>
              <a:rPr lang="en-US" sz="118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des écritures PostgreSQL (table journal_erreurs) sur les branches format erroné et champ manquant — aucune erreur n'est silencieuse.</a:t>
            </a:r>
            <a:endParaRPr lang="en-US" sz="11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DE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</a:t>
            </a:r>
            <a:r>
              <a:rPr lang="en-US" sz="2800" b="1" dirty="0" err="1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insérées</a:t>
            </a: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en base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documents traités avec succès alimentent automatiquement les tables — consultables et exploitables directement depuis Neon, sans étape manuelle.</a:t>
            </a:r>
            <a:endParaRPr lang="en-US" sz="1300" dirty="0"/>
          </a:p>
        </p:txBody>
      </p:sp>
      <p:pic>
        <p:nvPicPr>
          <p:cNvPr id="5" name="Image 0" descr="resultat_insertion_cl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887" y="2103120"/>
            <a:ext cx="7565746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167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client avec ses documents liés (sous-table imbriquée) — relation exploitable en un clic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DE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Traçabilité totale : aucune erreur ne se perd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EXCEL (résultats_extraction)</a:t>
            </a:r>
            <a:endParaRPr lang="en-US" sz="1200" dirty="0"/>
          </a:p>
        </p:txBody>
      </p:sp>
      <p:pic>
        <p:nvPicPr>
          <p:cNvPr id="5" name="Image 0" descr="table_excel_erre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5394960" cy="16018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508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POSTGRESQL (journal_erreurs)</a:t>
            </a:r>
            <a:endParaRPr lang="en-US" sz="1200" dirty="0"/>
          </a:p>
        </p:txBody>
      </p:sp>
      <p:pic>
        <p:nvPicPr>
          <p:cNvPr id="7" name="Image 1" descr="Test_insertion_erreur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28800"/>
            <a:ext cx="5394960" cy="12881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11480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EA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2960" y="42793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ÉCRITURE COHÉRENTE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22960" y="4572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mêmes anomalies (format non supporté, champs essentiels manquants) apparaissent à la fois dans le journal Excel existant et dans la nouvelle table PostgreSQL journal_erreurs : la migration vers Postgres n'a fait perdre aucune information, elle l'a dupliquée de façon fiable.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DES TRAVAUX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79 — Modélisation des données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plus </a:t>
            </a:r>
            <a:r>
              <a:rPr lang="en-US" sz="1100" i="1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</a:t>
            </a: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 plus </a:t>
            </a:r>
            <a:r>
              <a:rPr lang="en-US" sz="1100" i="1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0" cy="768096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5267399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4E8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5267399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3C4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97280" y="55880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d'une table de journal des erreurs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700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035808"/>
            <a:ext cx="0" cy="768096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51129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877056"/>
            <a:ext cx="0" cy="768096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35254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4718304"/>
            <a:ext cx="0" cy="768096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8640" y="519379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5193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8" name="Shape 29">
            <a:extLst>
              <a:ext uri="{FF2B5EF4-FFF2-40B4-BE49-F238E27FC236}">
                <a16:creationId xmlns:a16="http://schemas.microsoft.com/office/drawing/2014/main" id="{6E1F3E44-D554-32CB-253E-3B2B4219EAE1}"/>
              </a:ext>
            </a:extLst>
          </p:cNvPr>
          <p:cNvSpPr/>
          <p:nvPr/>
        </p:nvSpPr>
        <p:spPr>
          <a:xfrm>
            <a:off x="1097280" y="191414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A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0">
            <a:extLst>
              <a:ext uri="{FF2B5EF4-FFF2-40B4-BE49-F238E27FC236}">
                <a16:creationId xmlns:a16="http://schemas.microsoft.com/office/drawing/2014/main" id="{9C08E5CD-CC5F-3D8A-DD54-DF8EE78311AA}"/>
              </a:ext>
            </a:extLst>
          </p:cNvPr>
          <p:cNvSpPr/>
          <p:nvPr/>
        </p:nvSpPr>
        <p:spPr>
          <a:xfrm>
            <a:off x="1097280" y="1914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850" dirty="0"/>
          </a:p>
        </p:txBody>
      </p:sp>
      <p:sp>
        <p:nvSpPr>
          <p:cNvPr id="42" name="Text 31">
            <a:extLst>
              <a:ext uri="{FF2B5EF4-FFF2-40B4-BE49-F238E27FC236}">
                <a16:creationId xmlns:a16="http://schemas.microsoft.com/office/drawing/2014/main" id="{709077D0-DEAD-29D1-5087-F6960310ABFC}"/>
              </a:ext>
            </a:extLst>
          </p:cNvPr>
          <p:cNvSpPr/>
          <p:nvPr/>
        </p:nvSpPr>
        <p:spPr>
          <a:xfrm>
            <a:off x="1097280" y="220675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Dataverse vs Postgres pour le stockage, avec critère décisif : support natif de la recherche vectorielle via pgvector pour la brique RAG</a:t>
            </a:r>
            <a:endParaRPr lang="en-US" sz="1200" dirty="0"/>
          </a:p>
        </p:txBody>
      </p:sp>
      <p:sp>
        <p:nvSpPr>
          <p:cNvPr id="44" name="Shape 24">
            <a:extLst>
              <a:ext uri="{FF2B5EF4-FFF2-40B4-BE49-F238E27FC236}">
                <a16:creationId xmlns:a16="http://schemas.microsoft.com/office/drawing/2014/main" id="{FA43F959-0EBF-D421-B830-96E475134A09}"/>
              </a:ext>
            </a:extLst>
          </p:cNvPr>
          <p:cNvSpPr/>
          <p:nvPr/>
        </p:nvSpPr>
        <p:spPr>
          <a:xfrm>
            <a:off x="1097280" y="2759456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4E8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72BEDB58-C48B-E0E3-3290-B317281BDB71}"/>
              </a:ext>
            </a:extLst>
          </p:cNvPr>
          <p:cNvSpPr/>
          <p:nvPr/>
        </p:nvSpPr>
        <p:spPr>
          <a:xfrm>
            <a:off x="1097280" y="2759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3C4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85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3C53313B-BD03-2D92-F7C4-4B21673DF74D}"/>
              </a:ext>
            </a:extLst>
          </p:cNvPr>
          <p:cNvSpPr/>
          <p:nvPr/>
        </p:nvSpPr>
        <p:spPr>
          <a:xfrm>
            <a:off x="1097280" y="305206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vers SharePoint pour le stockage et le déclenchement des deux flows</a:t>
            </a:r>
            <a:endParaRPr lang="en-US" sz="1200" dirty="0"/>
          </a:p>
        </p:txBody>
      </p:sp>
      <p:sp>
        <p:nvSpPr>
          <p:cNvPr id="50" name="Shape 18">
            <a:extLst>
              <a:ext uri="{FF2B5EF4-FFF2-40B4-BE49-F238E27FC236}">
                <a16:creationId xmlns:a16="http://schemas.microsoft.com/office/drawing/2014/main" id="{AEB04E02-1703-1656-B95A-CCF3A090FE97}"/>
              </a:ext>
            </a:extLst>
          </p:cNvPr>
          <p:cNvSpPr/>
          <p:nvPr/>
        </p:nvSpPr>
        <p:spPr>
          <a:xfrm>
            <a:off x="1097280" y="357428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19">
            <a:extLst>
              <a:ext uri="{FF2B5EF4-FFF2-40B4-BE49-F238E27FC236}">
                <a16:creationId xmlns:a16="http://schemas.microsoft.com/office/drawing/2014/main" id="{BC153A6C-1B14-1204-F2DC-95DC630721C8}"/>
              </a:ext>
            </a:extLst>
          </p:cNvPr>
          <p:cNvSpPr/>
          <p:nvPr/>
        </p:nvSpPr>
        <p:spPr>
          <a:xfrm>
            <a:off x="1097280" y="3574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850" dirty="0"/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1B7DA780-7DD0-8732-4E0F-34957894C563}"/>
              </a:ext>
            </a:extLst>
          </p:cNvPr>
          <p:cNvSpPr/>
          <p:nvPr/>
        </p:nvSpPr>
        <p:spPr>
          <a:xfrm>
            <a:off x="1097280" y="386689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du choix Neon PostgreSQL comme alternative cloud gratuite à Azure Database for PostgreSQL, sans changement du modèle de données</a:t>
            </a:r>
            <a:endParaRPr lang="en-US" sz="1200" dirty="0"/>
          </a:p>
        </p:txBody>
      </p:sp>
      <p:sp>
        <p:nvSpPr>
          <p:cNvPr id="56" name="Shape 12">
            <a:extLst>
              <a:ext uri="{FF2B5EF4-FFF2-40B4-BE49-F238E27FC236}">
                <a16:creationId xmlns:a16="http://schemas.microsoft.com/office/drawing/2014/main" id="{8CB29F34-7203-1DB1-6C3A-9B30A172A012}"/>
              </a:ext>
            </a:extLst>
          </p:cNvPr>
          <p:cNvSpPr/>
          <p:nvPr/>
        </p:nvSpPr>
        <p:spPr>
          <a:xfrm>
            <a:off x="1097280" y="4401767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4E8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13">
            <a:extLst>
              <a:ext uri="{FF2B5EF4-FFF2-40B4-BE49-F238E27FC236}">
                <a16:creationId xmlns:a16="http://schemas.microsoft.com/office/drawing/2014/main" id="{451F5512-ED00-1132-3474-31743A38393C}"/>
              </a:ext>
            </a:extLst>
          </p:cNvPr>
          <p:cNvSpPr/>
          <p:nvPr/>
        </p:nvSpPr>
        <p:spPr>
          <a:xfrm>
            <a:off x="1097280" y="4401767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3C4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850" dirty="0"/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FF38B278-F461-637A-B513-AB02131AD0CB}"/>
              </a:ext>
            </a:extLst>
          </p:cNvPr>
          <p:cNvSpPr/>
          <p:nvPr/>
        </p:nvSpPr>
        <p:spPr>
          <a:xfrm>
            <a:off x="1097280" y="4694375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du script de création du schéma de Postgres/Azure vers Neon (syntaxe uuid-ossp et pgvector validées sur l'instance Neon)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DES TRAVAUX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80 — Intégration du stockage dans le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plus </a:t>
            </a:r>
            <a:r>
              <a:rPr lang="en-US" sz="1100" i="1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</a:t>
            </a: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 plus </a:t>
            </a:r>
            <a:r>
              <a:rPr lang="en-US" sz="1100" i="1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récent</a:t>
            </a: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 corrections critiques mises en évidence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94944" y="2075688"/>
            <a:ext cx="0" cy="534924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6066015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A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6066015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331720" y="6029439"/>
            <a:ext cx="92354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bout en bout sur facture multi-lignes : vérification de l'intégrité des données dans document et ligne_document via la vue v_document_synthese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48640" y="239115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3911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4944" y="2683764"/>
            <a:ext cx="0" cy="534924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299923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" y="3291840"/>
            <a:ext cx="0" cy="534924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360730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36073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4944" y="3899916"/>
            <a:ext cx="0" cy="534924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8640" y="421538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4944" y="4507992"/>
            <a:ext cx="0" cy="534924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48640" y="482346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48234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4944" y="5116068"/>
            <a:ext cx="0" cy="534924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48640" y="54315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8640" y="5431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4944" y="5724144"/>
            <a:ext cx="0" cy="534924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48640" y="603961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48640" y="60396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5" name="Shape 47">
            <a:extLst>
              <a:ext uri="{FF2B5EF4-FFF2-40B4-BE49-F238E27FC236}">
                <a16:creationId xmlns:a16="http://schemas.microsoft.com/office/drawing/2014/main" id="{2C147543-216C-4BDC-698C-C63740FCBE3A}"/>
              </a:ext>
            </a:extLst>
          </p:cNvPr>
          <p:cNvSpPr/>
          <p:nvPr/>
        </p:nvSpPr>
        <p:spPr>
          <a:xfrm>
            <a:off x="960120" y="185035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4E8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48">
            <a:extLst>
              <a:ext uri="{FF2B5EF4-FFF2-40B4-BE49-F238E27FC236}">
                <a16:creationId xmlns:a16="http://schemas.microsoft.com/office/drawing/2014/main" id="{9A879428-55EF-EA61-4BC0-E5256DF89A4A}"/>
              </a:ext>
            </a:extLst>
          </p:cNvPr>
          <p:cNvSpPr/>
          <p:nvPr/>
        </p:nvSpPr>
        <p:spPr>
          <a:xfrm>
            <a:off x="960120" y="18503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3C4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850" dirty="0"/>
          </a:p>
        </p:txBody>
      </p:sp>
      <p:sp>
        <p:nvSpPr>
          <p:cNvPr id="59" name="Text 49">
            <a:extLst>
              <a:ext uri="{FF2B5EF4-FFF2-40B4-BE49-F238E27FC236}">
                <a16:creationId xmlns:a16="http://schemas.microsoft.com/office/drawing/2014/main" id="{4EEE9238-C21F-7B9A-AB7C-EC54B6C18478}"/>
              </a:ext>
            </a:extLst>
          </p:cNvPr>
          <p:cNvSpPr/>
          <p:nvPr/>
        </p:nvSpPr>
        <p:spPr>
          <a:xfrm>
            <a:off x="2331720" y="1813776"/>
            <a:ext cx="92354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du projet Neon, exécution du script de schéma et validation de la connexion PostgreSQL depuis un flow de test Power Automate</a:t>
            </a:r>
            <a:endParaRPr lang="en-US" sz="1030" dirty="0"/>
          </a:p>
        </p:txBody>
      </p:sp>
      <p:sp>
        <p:nvSpPr>
          <p:cNvPr id="61" name="Shape 42">
            <a:extLst>
              <a:ext uri="{FF2B5EF4-FFF2-40B4-BE49-F238E27FC236}">
                <a16:creationId xmlns:a16="http://schemas.microsoft.com/office/drawing/2014/main" id="{1B1DCBDA-4A09-0F7D-A77F-AC0C99ED4586}"/>
              </a:ext>
            </a:extLst>
          </p:cNvPr>
          <p:cNvSpPr/>
          <p:nvPr/>
        </p:nvSpPr>
        <p:spPr>
          <a:xfrm>
            <a:off x="960120" y="2427265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4E8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43">
            <a:extLst>
              <a:ext uri="{FF2B5EF4-FFF2-40B4-BE49-F238E27FC236}">
                <a16:creationId xmlns:a16="http://schemas.microsoft.com/office/drawing/2014/main" id="{3D190251-F32C-3BCE-6C41-16DF54BFD292}"/>
              </a:ext>
            </a:extLst>
          </p:cNvPr>
          <p:cNvSpPr/>
          <p:nvPr/>
        </p:nvSpPr>
        <p:spPr>
          <a:xfrm>
            <a:off x="960120" y="2427265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3C4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850" dirty="0"/>
          </a:p>
        </p:txBody>
      </p:sp>
      <p:sp>
        <p:nvSpPr>
          <p:cNvPr id="65" name="Text 44">
            <a:extLst>
              <a:ext uri="{FF2B5EF4-FFF2-40B4-BE49-F238E27FC236}">
                <a16:creationId xmlns:a16="http://schemas.microsoft.com/office/drawing/2014/main" id="{BFB8F9D8-AE8E-7917-28AD-E0D0D863D10D}"/>
              </a:ext>
            </a:extLst>
          </p:cNvPr>
          <p:cNvSpPr/>
          <p:nvPr/>
        </p:nvSpPr>
        <p:spPr>
          <a:xfrm>
            <a:off x="2331720" y="2390689"/>
            <a:ext cx="92354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du déclencheur OneDrive vers SharePoint (« Quand un fichier est créé — propriétés uniquement ») et adaptation des expressions de nom de fichier + gestion de doublons</a:t>
            </a:r>
            <a:endParaRPr lang="en-US" sz="1030" dirty="0"/>
          </a:p>
        </p:txBody>
      </p:sp>
      <p:sp>
        <p:nvSpPr>
          <p:cNvPr id="67" name="Shape 36">
            <a:extLst>
              <a:ext uri="{FF2B5EF4-FFF2-40B4-BE49-F238E27FC236}">
                <a16:creationId xmlns:a16="http://schemas.microsoft.com/office/drawing/2014/main" id="{196A2840-B8BD-BA62-2A27-D96CF45457AE}"/>
              </a:ext>
            </a:extLst>
          </p:cNvPr>
          <p:cNvSpPr/>
          <p:nvPr/>
        </p:nvSpPr>
        <p:spPr>
          <a:xfrm>
            <a:off x="960120" y="3050826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4E8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37">
            <a:extLst>
              <a:ext uri="{FF2B5EF4-FFF2-40B4-BE49-F238E27FC236}">
                <a16:creationId xmlns:a16="http://schemas.microsoft.com/office/drawing/2014/main" id="{EDEF6B0D-F2DD-9153-B3B1-D4C2019934BD}"/>
              </a:ext>
            </a:extLst>
          </p:cNvPr>
          <p:cNvSpPr/>
          <p:nvPr/>
        </p:nvSpPr>
        <p:spPr>
          <a:xfrm>
            <a:off x="960120" y="305082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3C4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850" dirty="0"/>
          </a:p>
        </p:txBody>
      </p:sp>
      <p:sp>
        <p:nvSpPr>
          <p:cNvPr id="71" name="Text 38">
            <a:extLst>
              <a:ext uri="{FF2B5EF4-FFF2-40B4-BE49-F238E27FC236}">
                <a16:creationId xmlns:a16="http://schemas.microsoft.com/office/drawing/2014/main" id="{812EF205-68A5-AB16-25F7-3580AA8ACA5C}"/>
              </a:ext>
            </a:extLst>
          </p:cNvPr>
          <p:cNvSpPr/>
          <p:nvPr/>
        </p:nvSpPr>
        <p:spPr>
          <a:xfrm>
            <a:off x="2331720" y="3014250"/>
            <a:ext cx="92354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des actions d'insertion Postgres statut/fournisseur/client/document/ligne_document dans la branche de traitement réussi</a:t>
            </a:r>
            <a:endParaRPr lang="en-US" sz="1030" dirty="0"/>
          </a:p>
        </p:txBody>
      </p:sp>
      <p:sp>
        <p:nvSpPr>
          <p:cNvPr id="73" name="Shape 30">
            <a:extLst>
              <a:ext uri="{FF2B5EF4-FFF2-40B4-BE49-F238E27FC236}">
                <a16:creationId xmlns:a16="http://schemas.microsoft.com/office/drawing/2014/main" id="{B093F297-DE2F-2EBC-B961-D9DD2D3CB8C3}"/>
              </a:ext>
            </a:extLst>
          </p:cNvPr>
          <p:cNvSpPr/>
          <p:nvPr/>
        </p:nvSpPr>
        <p:spPr>
          <a:xfrm>
            <a:off x="960120" y="364639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DEE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31">
            <a:extLst>
              <a:ext uri="{FF2B5EF4-FFF2-40B4-BE49-F238E27FC236}">
                <a16:creationId xmlns:a16="http://schemas.microsoft.com/office/drawing/2014/main" id="{15143037-BAD5-761B-0D66-5C7F6E3010FE}"/>
              </a:ext>
            </a:extLst>
          </p:cNvPr>
          <p:cNvSpPr/>
          <p:nvPr/>
        </p:nvSpPr>
        <p:spPr>
          <a:xfrm>
            <a:off x="960120" y="36463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CRITIQUE</a:t>
            </a:r>
            <a:endParaRPr lang="en-US" sz="850" dirty="0"/>
          </a:p>
        </p:txBody>
      </p:sp>
      <p:sp>
        <p:nvSpPr>
          <p:cNvPr id="77" name="Text 32">
            <a:extLst>
              <a:ext uri="{FF2B5EF4-FFF2-40B4-BE49-F238E27FC236}">
                <a16:creationId xmlns:a16="http://schemas.microsoft.com/office/drawing/2014/main" id="{E575396C-9321-A1AF-BB4D-067644A14E01}"/>
              </a:ext>
            </a:extLst>
          </p:cNvPr>
          <p:cNvSpPr/>
          <p:nvPr/>
        </p:nvSpPr>
        <p:spPr>
          <a:xfrm>
            <a:off x="2331720" y="3609816"/>
            <a:ext cx="92354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structurelle : déplacement de l'insertion document hors de la boucle For each et ajout de l'insertion ligne_document à l'intérieur, pour gérer les factures multi-lignes</a:t>
            </a:r>
            <a:endParaRPr lang="en-US" sz="1030" dirty="0"/>
          </a:p>
        </p:txBody>
      </p:sp>
      <p:sp>
        <p:nvSpPr>
          <p:cNvPr id="79" name="Shape 24">
            <a:extLst>
              <a:ext uri="{FF2B5EF4-FFF2-40B4-BE49-F238E27FC236}">
                <a16:creationId xmlns:a16="http://schemas.microsoft.com/office/drawing/2014/main" id="{D23954BD-193A-DC54-A35E-78B9C6CD8EC8}"/>
              </a:ext>
            </a:extLst>
          </p:cNvPr>
          <p:cNvSpPr/>
          <p:nvPr/>
        </p:nvSpPr>
        <p:spPr>
          <a:xfrm>
            <a:off x="960120" y="4251295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DEE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25">
            <a:extLst>
              <a:ext uri="{FF2B5EF4-FFF2-40B4-BE49-F238E27FC236}">
                <a16:creationId xmlns:a16="http://schemas.microsoft.com/office/drawing/2014/main" id="{B2FE8E71-0A50-9050-FA06-C6447AE4C31E}"/>
              </a:ext>
            </a:extLst>
          </p:cNvPr>
          <p:cNvSpPr/>
          <p:nvPr/>
        </p:nvSpPr>
        <p:spPr>
          <a:xfrm>
            <a:off x="960120" y="42792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CRITIQUE</a:t>
            </a:r>
            <a:endParaRPr lang="en-US" sz="850" dirty="0"/>
          </a:p>
        </p:txBody>
      </p:sp>
      <p:sp>
        <p:nvSpPr>
          <p:cNvPr id="83" name="Text 26">
            <a:extLst>
              <a:ext uri="{FF2B5EF4-FFF2-40B4-BE49-F238E27FC236}">
                <a16:creationId xmlns:a16="http://schemas.microsoft.com/office/drawing/2014/main" id="{77792A27-07DE-2D15-24AC-2F3EDF63177C}"/>
              </a:ext>
            </a:extLst>
          </p:cNvPr>
          <p:cNvSpPr/>
          <p:nvPr/>
        </p:nvSpPr>
        <p:spPr>
          <a:xfrm>
            <a:off x="2331720" y="4242712"/>
            <a:ext cx="92354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et correction d'un bug de redéclenchement multiple du trigger SharePoint (boucle infinie)</a:t>
            </a:r>
            <a:endParaRPr lang="en-US" sz="1030" dirty="0"/>
          </a:p>
        </p:txBody>
      </p:sp>
      <p:sp>
        <p:nvSpPr>
          <p:cNvPr id="85" name="Shape 18">
            <a:extLst>
              <a:ext uri="{FF2B5EF4-FFF2-40B4-BE49-F238E27FC236}">
                <a16:creationId xmlns:a16="http://schemas.microsoft.com/office/drawing/2014/main" id="{10D08BF5-00C1-84E2-E226-597886D8E5A9}"/>
              </a:ext>
            </a:extLst>
          </p:cNvPr>
          <p:cNvSpPr/>
          <p:nvPr/>
        </p:nvSpPr>
        <p:spPr>
          <a:xfrm>
            <a:off x="960120" y="4874873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DEE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19">
            <a:extLst>
              <a:ext uri="{FF2B5EF4-FFF2-40B4-BE49-F238E27FC236}">
                <a16:creationId xmlns:a16="http://schemas.microsoft.com/office/drawing/2014/main" id="{9FDE67E4-BFBB-7D4D-B5E9-EFFDA04619C6}"/>
              </a:ext>
            </a:extLst>
          </p:cNvPr>
          <p:cNvSpPr/>
          <p:nvPr/>
        </p:nvSpPr>
        <p:spPr>
          <a:xfrm>
            <a:off x="960120" y="4874873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CRITIQUE</a:t>
            </a:r>
            <a:endParaRPr lang="en-US" sz="850" dirty="0"/>
          </a:p>
        </p:txBody>
      </p:sp>
      <p:sp>
        <p:nvSpPr>
          <p:cNvPr id="89" name="Text 20">
            <a:extLst>
              <a:ext uri="{FF2B5EF4-FFF2-40B4-BE49-F238E27FC236}">
                <a16:creationId xmlns:a16="http://schemas.microsoft.com/office/drawing/2014/main" id="{2E063A73-BC20-08FB-C79D-B6828C72E701}"/>
              </a:ext>
            </a:extLst>
          </p:cNvPr>
          <p:cNvSpPr/>
          <p:nvPr/>
        </p:nvSpPr>
        <p:spPr>
          <a:xfrm>
            <a:off x="2331720" y="4838297"/>
            <a:ext cx="92354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et correction du conflit de nommage sur les fichiers doublons (Excel + SharePoint)</a:t>
            </a:r>
            <a:endParaRPr lang="en-US" sz="1030" dirty="0"/>
          </a:p>
        </p:txBody>
      </p:sp>
      <p:sp>
        <p:nvSpPr>
          <p:cNvPr id="91" name="Shape 12">
            <a:extLst>
              <a:ext uri="{FF2B5EF4-FFF2-40B4-BE49-F238E27FC236}">
                <a16:creationId xmlns:a16="http://schemas.microsoft.com/office/drawing/2014/main" id="{BCE058E7-DC47-7585-41FA-8CF3D996C5DA}"/>
              </a:ext>
            </a:extLst>
          </p:cNvPr>
          <p:cNvSpPr/>
          <p:nvPr/>
        </p:nvSpPr>
        <p:spPr>
          <a:xfrm>
            <a:off x="960120" y="5470441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4E8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13">
            <a:extLst>
              <a:ext uri="{FF2B5EF4-FFF2-40B4-BE49-F238E27FC236}">
                <a16:creationId xmlns:a16="http://schemas.microsoft.com/office/drawing/2014/main" id="{00642029-B99B-FB11-BBC9-AEBD818F6110}"/>
              </a:ext>
            </a:extLst>
          </p:cNvPr>
          <p:cNvSpPr/>
          <p:nvPr/>
        </p:nvSpPr>
        <p:spPr>
          <a:xfrm>
            <a:off x="960120" y="5470441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3C4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850" dirty="0"/>
          </a:p>
        </p:txBody>
      </p:sp>
      <p:sp>
        <p:nvSpPr>
          <p:cNvPr id="95" name="Text 14">
            <a:extLst>
              <a:ext uri="{FF2B5EF4-FFF2-40B4-BE49-F238E27FC236}">
                <a16:creationId xmlns:a16="http://schemas.microsoft.com/office/drawing/2014/main" id="{A64EEC80-D958-53ED-860A-57D7952A140F}"/>
              </a:ext>
            </a:extLst>
          </p:cNvPr>
          <p:cNvSpPr/>
          <p:nvPr/>
        </p:nvSpPr>
        <p:spPr>
          <a:xfrm>
            <a:off x="2331720" y="5433865"/>
            <a:ext cx="92354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des écritures PostgreSQL (table journal_erreurs) sur les branches format erroné et champ manquant</a:t>
            </a:r>
            <a:endParaRPr lang="en-US" sz="10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Prochaines étapes — vers la brique RAG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socle de données étant posé, le sprint suivant peut s'appuyer dessus pour construire la recherche en langage naturel.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C4F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Indexation vectorielle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le remplissage de document_embedding (pgvector) pour préparer la brique RAG.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42316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37960" y="2697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C4F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79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32918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Étendre les tests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657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Élargir les tests de bout en bout multi-lignes sur davantage de factures et de devis réels.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C4F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394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7607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Exploiter v_document_synthese pour un premier tableau de bord de suivi.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452628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37960" y="4800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C4F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3796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5394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37960" y="57607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Consolider le choix Neon/pgvector et l'architecture de stockage dans le rapport technique.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2432</TotalTime>
  <Words>1399</Words>
  <Application>Microsoft Office PowerPoint</Application>
  <PresentationFormat>Widescreen</PresentationFormat>
  <Paragraphs>178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Siwar ADALI</cp:lastModifiedBy>
  <cp:revision>5</cp:revision>
  <dcterms:created xsi:type="dcterms:W3CDTF">2026-08-07T09:16:48Z</dcterms:created>
  <dcterms:modified xsi:type="dcterms:W3CDTF">2026-08-09T08:48:57Z</dcterms:modified>
</cp:coreProperties>
</file>