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li siwar" userId="3aca83244d99da43" providerId="LiveId" clId="{A27E7B51-5BEE-437D-9FF7-18A5F3DAD691}"/>
    <pc:docChg chg="undo custSel addSld delSld modSld">
      <pc:chgData name="adali siwar" userId="3aca83244d99da43" providerId="LiveId" clId="{A27E7B51-5BEE-437D-9FF7-18A5F3DAD691}" dt="2026-08-21T17:59:06.245" v="99" actId="208"/>
      <pc:docMkLst>
        <pc:docMk/>
      </pc:docMkLst>
      <pc:sldChg chg="modSp mod">
        <pc:chgData name="adali siwar" userId="3aca83244d99da43" providerId="LiveId" clId="{A27E7B51-5BEE-437D-9FF7-18A5F3DAD691}" dt="2026-08-21T17:16:45.456" v="0" actId="20577"/>
        <pc:sldMkLst>
          <pc:docMk/>
          <pc:sldMk cId="0" sldId="257"/>
        </pc:sldMkLst>
        <pc:spChg chg="mod">
          <ac:chgData name="adali siwar" userId="3aca83244d99da43" providerId="LiveId" clId="{A27E7B51-5BEE-437D-9FF7-18A5F3DAD691}" dt="2026-08-21T17:16:45.456" v="0" actId="20577"/>
          <ac:spMkLst>
            <pc:docMk/>
            <pc:sldMk cId="0" sldId="257"/>
            <ac:spMk id="6" creationId="{00000000-0000-0000-0000-000000000000}"/>
          </ac:spMkLst>
        </pc:spChg>
      </pc:sldChg>
      <pc:sldChg chg="addSp delSp modSp mod">
        <pc:chgData name="adali siwar" userId="3aca83244d99da43" providerId="LiveId" clId="{A27E7B51-5BEE-437D-9FF7-18A5F3DAD691}" dt="2026-08-21T17:59:06.245" v="99" actId="208"/>
        <pc:sldMkLst>
          <pc:docMk/>
          <pc:sldMk cId="0" sldId="260"/>
        </pc:sldMkLst>
        <pc:spChg chg="mod">
          <ac:chgData name="adali siwar" userId="3aca83244d99da43" providerId="LiveId" clId="{A27E7B51-5BEE-437D-9FF7-18A5F3DAD691}" dt="2026-08-21T17:58:54.052" v="97" actId="1037"/>
          <ac:spMkLst>
            <pc:docMk/>
            <pc:sldMk cId="0" sldId="260"/>
            <ac:spMk id="4" creationId="{00000000-0000-0000-0000-000000000000}"/>
          </ac:spMkLst>
        </pc:spChg>
        <pc:spChg chg="mod">
          <ac:chgData name="adali siwar" userId="3aca83244d99da43" providerId="LiveId" clId="{A27E7B51-5BEE-437D-9FF7-18A5F3DAD691}" dt="2026-08-21T17:58:54.052" v="97" actId="1037"/>
          <ac:spMkLst>
            <pc:docMk/>
            <pc:sldMk cId="0" sldId="260"/>
            <ac:spMk id="5" creationId="{00000000-0000-0000-0000-000000000000}"/>
          </ac:spMkLst>
        </pc:spChg>
        <pc:spChg chg="mod">
          <ac:chgData name="adali siwar" userId="3aca83244d99da43" providerId="LiveId" clId="{A27E7B51-5BEE-437D-9FF7-18A5F3DAD691}" dt="2026-08-21T17:58:54.052" v="97" actId="1037"/>
          <ac:spMkLst>
            <pc:docMk/>
            <pc:sldMk cId="0" sldId="260"/>
            <ac:spMk id="6" creationId="{00000000-0000-0000-0000-000000000000}"/>
          </ac:spMkLst>
        </pc:spChg>
        <pc:picChg chg="del">
          <ac:chgData name="adali siwar" userId="3aca83244d99da43" providerId="LiveId" clId="{A27E7B51-5BEE-437D-9FF7-18A5F3DAD691}" dt="2026-08-21T17:20:33.351" v="2" actId="21"/>
          <ac:picMkLst>
            <pc:docMk/>
            <pc:sldMk cId="0" sldId="260"/>
            <ac:picMk id="7" creationId="{00000000-0000-0000-0000-000000000000}"/>
          </ac:picMkLst>
        </pc:picChg>
        <pc:picChg chg="add mod">
          <ac:chgData name="adali siwar" userId="3aca83244d99da43" providerId="LiveId" clId="{A27E7B51-5BEE-437D-9FF7-18A5F3DAD691}" dt="2026-08-21T17:59:06.245" v="99" actId="208"/>
          <ac:picMkLst>
            <pc:docMk/>
            <pc:sldMk cId="0" sldId="260"/>
            <ac:picMk id="10" creationId="{028306E0-4F26-32D4-447E-8903F24B84E7}"/>
          </ac:picMkLst>
        </pc:picChg>
      </pc:sldChg>
      <pc:sldChg chg="modSp mod">
        <pc:chgData name="adali siwar" userId="3aca83244d99da43" providerId="LiveId" clId="{A27E7B51-5BEE-437D-9FF7-18A5F3DAD691}" dt="2026-08-21T17:26:42.298" v="26" actId="5793"/>
        <pc:sldMkLst>
          <pc:docMk/>
          <pc:sldMk cId="0" sldId="262"/>
        </pc:sldMkLst>
        <pc:spChg chg="mod">
          <ac:chgData name="adali siwar" userId="3aca83244d99da43" providerId="LiveId" clId="{A27E7B51-5BEE-437D-9FF7-18A5F3DAD691}" dt="2026-08-21T17:25:47.546" v="20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adali siwar" userId="3aca83244d99da43" providerId="LiveId" clId="{A27E7B51-5BEE-437D-9FF7-18A5F3DAD691}" dt="2026-08-21T17:26:42.298" v="26" actId="5793"/>
          <ac:spMkLst>
            <pc:docMk/>
            <pc:sldMk cId="0" sldId="262"/>
            <ac:spMk id="7" creationId="{00000000-0000-0000-0000-000000000000}"/>
          </ac:spMkLst>
        </pc:spChg>
      </pc:sldChg>
      <pc:sldChg chg="modSp mod">
        <pc:chgData name="adali siwar" userId="3aca83244d99da43" providerId="LiveId" clId="{A27E7B51-5BEE-437D-9FF7-18A5F3DAD691}" dt="2026-08-21T17:27:21.898" v="36" actId="20577"/>
        <pc:sldMkLst>
          <pc:docMk/>
          <pc:sldMk cId="0" sldId="263"/>
        </pc:sldMkLst>
        <pc:spChg chg="mod">
          <ac:chgData name="adali siwar" userId="3aca83244d99da43" providerId="LiveId" clId="{A27E7B51-5BEE-437D-9FF7-18A5F3DAD691}" dt="2026-08-21T17:27:21.898" v="36" actId="20577"/>
          <ac:spMkLst>
            <pc:docMk/>
            <pc:sldMk cId="0" sldId="263"/>
            <ac:spMk id="6" creationId="{00000000-0000-0000-0000-000000000000}"/>
          </ac:spMkLst>
        </pc:spChg>
      </pc:sldChg>
      <pc:sldChg chg="del">
        <pc:chgData name="adali siwar" userId="3aca83244d99da43" providerId="LiveId" clId="{A27E7B51-5BEE-437D-9FF7-18A5F3DAD691}" dt="2026-08-21T17:28:14.173" v="37" actId="47"/>
        <pc:sldMkLst>
          <pc:docMk/>
          <pc:sldMk cId="0" sldId="265"/>
        </pc:sldMkLst>
      </pc:sldChg>
      <pc:sldChg chg="modSp mod">
        <pc:chgData name="adali siwar" userId="3aca83244d99da43" providerId="LiveId" clId="{A27E7B51-5BEE-437D-9FF7-18A5F3DAD691}" dt="2026-08-21T17:29:35.786" v="38" actId="20577"/>
        <pc:sldMkLst>
          <pc:docMk/>
          <pc:sldMk cId="0" sldId="266"/>
        </pc:sldMkLst>
        <pc:spChg chg="mod">
          <ac:chgData name="adali siwar" userId="3aca83244d99da43" providerId="LiveId" clId="{A27E7B51-5BEE-437D-9FF7-18A5F3DAD691}" dt="2026-08-21T17:29:35.786" v="38" actId="20577"/>
          <ac:spMkLst>
            <pc:docMk/>
            <pc:sldMk cId="0" sldId="266"/>
            <ac:spMk id="9" creationId="{00000000-0000-0000-0000-000000000000}"/>
          </ac:spMkLst>
        </pc:spChg>
      </pc:sldChg>
      <pc:sldChg chg="addSp modSp new mod setBg">
        <pc:chgData name="adali siwar" userId="3aca83244d99da43" providerId="LiveId" clId="{A27E7B51-5BEE-437D-9FF7-18A5F3DAD691}" dt="2026-08-21T17:20:39.113" v="4" actId="26606"/>
        <pc:sldMkLst>
          <pc:docMk/>
          <pc:sldMk cId="3437267126" sldId="267"/>
        </pc:sldMkLst>
        <pc:spChg chg="add">
          <ac:chgData name="adali siwar" userId="3aca83244d99da43" providerId="LiveId" clId="{A27E7B51-5BEE-437D-9FF7-18A5F3DAD691}" dt="2026-08-21T17:20:39.113" v="4" actId="26606"/>
          <ac:spMkLst>
            <pc:docMk/>
            <pc:sldMk cId="3437267126" sldId="267"/>
            <ac:spMk id="8" creationId="{F3060C83-F051-4F0E-ABAD-AA0DFC48B218}"/>
          </ac:spMkLst>
        </pc:spChg>
        <pc:spChg chg="add">
          <ac:chgData name="adali siwar" userId="3aca83244d99da43" providerId="LiveId" clId="{A27E7B51-5BEE-437D-9FF7-18A5F3DAD691}" dt="2026-08-21T17:20:39.113" v="4" actId="26606"/>
          <ac:spMkLst>
            <pc:docMk/>
            <pc:sldMk cId="3437267126" sldId="267"/>
            <ac:spMk id="10" creationId="{83C98ABE-055B-441F-B07E-44F97F083C39}"/>
          </ac:spMkLst>
        </pc:spChg>
        <pc:spChg chg="add">
          <ac:chgData name="adali siwar" userId="3aca83244d99da43" providerId="LiveId" clId="{A27E7B51-5BEE-437D-9FF7-18A5F3DAD691}" dt="2026-08-21T17:20:39.113" v="4" actId="26606"/>
          <ac:spMkLst>
            <pc:docMk/>
            <pc:sldMk cId="3437267126" sldId="267"/>
            <ac:spMk id="12" creationId="{29FDB030-9B49-4CED-8CCD-4D99382388AC}"/>
          </ac:spMkLst>
        </pc:spChg>
        <pc:spChg chg="add">
          <ac:chgData name="adali siwar" userId="3aca83244d99da43" providerId="LiveId" clId="{A27E7B51-5BEE-437D-9FF7-18A5F3DAD691}" dt="2026-08-21T17:20:39.113" v="4" actId="26606"/>
          <ac:spMkLst>
            <pc:docMk/>
            <pc:sldMk cId="3437267126" sldId="267"/>
            <ac:spMk id="14" creationId="{3783CA14-24A1-485C-8B30-D6A5D87987AD}"/>
          </ac:spMkLst>
        </pc:spChg>
        <pc:spChg chg="add">
          <ac:chgData name="adali siwar" userId="3aca83244d99da43" providerId="LiveId" clId="{A27E7B51-5BEE-437D-9FF7-18A5F3DAD691}" dt="2026-08-21T17:20:39.113" v="4" actId="26606"/>
          <ac:spMkLst>
            <pc:docMk/>
            <pc:sldMk cId="3437267126" sldId="267"/>
            <ac:spMk id="16" creationId="{9A97C86A-04D6-40F7-AE84-31AB43E6A846}"/>
          </ac:spMkLst>
        </pc:spChg>
        <pc:spChg chg="add">
          <ac:chgData name="adali siwar" userId="3aca83244d99da43" providerId="LiveId" clId="{A27E7B51-5BEE-437D-9FF7-18A5F3DAD691}" dt="2026-08-21T17:20:39.113" v="4" actId="26606"/>
          <ac:spMkLst>
            <pc:docMk/>
            <pc:sldMk cId="3437267126" sldId="267"/>
            <ac:spMk id="18" creationId="{FF9F2414-84E8-453E-B1F3-389FDE8192D9}"/>
          </ac:spMkLst>
        </pc:spChg>
        <pc:spChg chg="add">
          <ac:chgData name="adali siwar" userId="3aca83244d99da43" providerId="LiveId" clId="{A27E7B51-5BEE-437D-9FF7-18A5F3DAD691}" dt="2026-08-21T17:20:39.113" v="4" actId="26606"/>
          <ac:spMkLst>
            <pc:docMk/>
            <pc:sldMk cId="3437267126" sldId="267"/>
            <ac:spMk id="20" creationId="{3ECA69A1-7536-43AC-85EF-C7106179F5ED}"/>
          </ac:spMkLst>
        </pc:spChg>
        <pc:picChg chg="add mod">
          <ac:chgData name="adali siwar" userId="3aca83244d99da43" providerId="LiveId" clId="{A27E7B51-5BEE-437D-9FF7-18A5F3DAD691}" dt="2026-08-21T17:20:39.113" v="4" actId="26606"/>
          <ac:picMkLst>
            <pc:docMk/>
            <pc:sldMk cId="3437267126" sldId="267"/>
            <ac:picMk id="3" creationId="{4B3BBEB8-BE95-A09A-7D34-36BE743EB71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481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480560"/>
            <a:ext cx="4754880" cy="4754880"/>
          </a:xfrm>
          <a:prstGeom prst="ellipse">
            <a:avLst/>
          </a:prstGeom>
          <a:solidFill>
            <a:srgbClr val="3B5BA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28655" y="5577840"/>
            <a:ext cx="2377440" cy="237744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D'ÉTÉ — DAZZLIFAI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RAG pour l'automatisation du traitement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de la digitalisation des factures et devis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de suivi — Sprint 7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" y="4434840"/>
            <a:ext cx="20116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Siwar ADALI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Étudiante en Génie Informatique — ENIS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en est-on : le Sprint 7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4480560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déjà en place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617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Extraction, validation et stockage des factures/devis dans Postgres (Neon), avec journal d'erreurs et suivi de confiance.
Un agent RAG interrogeable en </a:t>
            </a:r>
            <a:r>
              <a:rPr lang="en-US" sz="12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</a:t>
            </a: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naturel.
Dernière étape avant la finalisation : rendre les données exploitables dans l'outil de facturation cible (Backlog Item 71).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12648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Sprint 7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0" y="2331720"/>
            <a:ext cx="384048" cy="384048"/>
          </a:xfrm>
          <a:prstGeom prst="ellipse">
            <a:avLst/>
          </a:prstGeom>
          <a:solidFill>
            <a:srgbClr val="3B5B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2648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20840" y="231343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Lier chaque document Postgres à un enregistrement Dataverse (id_dataverse)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3264408"/>
            <a:ext cx="384048" cy="384048"/>
          </a:xfrm>
          <a:prstGeom prst="ellipse">
            <a:avLst/>
          </a:prstGeom>
          <a:solidFill>
            <a:srgbClr val="3B5B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20840" y="3246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le formulaire Power Apps de saisie du paiement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4197096"/>
            <a:ext cx="384048" cy="384048"/>
          </a:xfrm>
          <a:prstGeom prst="ellipse">
            <a:avLst/>
          </a:prstGeom>
          <a:solidFill>
            <a:srgbClr val="3B5B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20840" y="417880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Synchroniser montant_payé et reste_à_payer vers Postgres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5129784"/>
            <a:ext cx="384048" cy="384048"/>
          </a:xfrm>
          <a:prstGeom prst="ellipse">
            <a:avLst/>
          </a:prstGeom>
          <a:solidFill>
            <a:srgbClr val="3B5B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511149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l'intégration de bout en bout (Task 83 &amp; 84)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7 — Intégration outil de facturation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Synchronisation Postgres ↔ Dataverse ↔ Power Apps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246120" cy="3611880"/>
          </a:xfrm>
          <a:prstGeom prst="roundRect">
            <a:avLst>
              <a:gd name="adj" fmla="val 2817"/>
            </a:avLst>
          </a:prstGeom>
          <a:solidFill>
            <a:srgbClr val="FAFBFD"/>
          </a:solidFill>
          <a:ln w="15875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15084" y="1929384"/>
            <a:ext cx="713232" cy="713232"/>
          </a:xfrm>
          <a:prstGeom prst="ellipse">
            <a:avLst/>
          </a:prstGeom>
          <a:solidFill>
            <a:srgbClr val="1E2761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ptx_work/icon_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676" y="20939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7889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 vérité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68680" y="3474720"/>
            <a:ext cx="26060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22960" y="3657600"/>
            <a:ext cx="365760" cy="365760"/>
          </a:xfrm>
          <a:prstGeom prst="ellipse">
            <a:avLst/>
          </a:prstGeom>
          <a:solidFill>
            <a:srgbClr val="3B5B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pptx_work/icon_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4904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98448" y="360273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extraits, protégés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22960" y="4343400"/>
            <a:ext cx="365760" cy="365760"/>
          </a:xfrm>
          <a:prstGeom prst="ellipse">
            <a:avLst/>
          </a:prstGeom>
          <a:solidFill>
            <a:srgbClr val="3B5B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pptx_work/icon_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3484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98448" y="428853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id_dataverse — clé de liaison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22960" y="5029200"/>
            <a:ext cx="365760" cy="365760"/>
          </a:xfrm>
          <a:prstGeom prst="ellipse">
            <a:avLst/>
          </a:prstGeom>
          <a:solidFill>
            <a:srgbClr val="3B5B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/home/claude/pptx_work/icon_sy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120640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98448" y="497433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montant_payé / reste_à_payer (généré)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434840" y="2286000"/>
            <a:ext cx="3246120" cy="3611880"/>
          </a:xfrm>
          <a:prstGeom prst="roundRect">
            <a:avLst>
              <a:gd name="adj" fmla="val 2817"/>
            </a:avLst>
          </a:prstGeom>
          <a:solidFill>
            <a:srgbClr val="FAFBFD"/>
          </a:solidFill>
          <a:ln w="15875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5701284" y="1929384"/>
            <a:ext cx="713232" cy="713232"/>
          </a:xfrm>
          <a:prstGeom prst="ellipse">
            <a:avLst/>
          </a:prstGeom>
          <a:solidFill>
            <a:srgbClr val="1E2761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/home/claude/pptx_work/icon_clou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76" y="2093976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434840" y="27889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Dataverse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434840" y="3154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opérationnelle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754880" y="3474720"/>
            <a:ext cx="26060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4709160" y="3657600"/>
            <a:ext cx="365760" cy="365760"/>
          </a:xfrm>
          <a:prstGeom prst="ellipse">
            <a:avLst/>
          </a:prstGeom>
          <a:solidFill>
            <a:srgbClr val="3B5B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/home/claude/pptx_work/icon_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749040"/>
            <a:ext cx="182880" cy="1828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184648" y="360273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miroir — table Document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4709160" y="4343400"/>
            <a:ext cx="365760" cy="365760"/>
          </a:xfrm>
          <a:prstGeom prst="ellipse">
            <a:avLst/>
          </a:prstGeom>
          <a:solidFill>
            <a:srgbClr val="3B5B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6" descr="/home/claude/pptx_work/icon_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434840"/>
            <a:ext cx="182880" cy="1828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184648" y="428853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Postgres_Ref_Id (requis)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4709160" y="5029200"/>
            <a:ext cx="365760" cy="365760"/>
          </a:xfrm>
          <a:prstGeom prst="ellipse">
            <a:avLst/>
          </a:prstGeom>
          <a:solidFill>
            <a:srgbClr val="3B5B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7" descr="/home/claude/pptx_work/icon_p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5120640"/>
            <a:ext cx="182880" cy="18288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184648" y="497433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Montant_Paye (éditable)</a:t>
            </a:r>
            <a:endParaRPr lang="en-US" sz="1050" dirty="0"/>
          </a:p>
        </p:txBody>
      </p:sp>
      <p:sp>
        <p:nvSpPr>
          <p:cNvPr id="34" name="Shape 24"/>
          <p:cNvSpPr/>
          <p:nvPr/>
        </p:nvSpPr>
        <p:spPr>
          <a:xfrm>
            <a:off x="8321040" y="2286000"/>
            <a:ext cx="3246120" cy="3611880"/>
          </a:xfrm>
          <a:prstGeom prst="roundRect">
            <a:avLst>
              <a:gd name="adj" fmla="val 2817"/>
            </a:avLst>
          </a:prstGeom>
          <a:solidFill>
            <a:srgbClr val="FAFBFD"/>
          </a:solidFill>
          <a:ln w="15875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5"/>
          <p:cNvSpPr/>
          <p:nvPr/>
        </p:nvSpPr>
        <p:spPr>
          <a:xfrm>
            <a:off x="9587484" y="1929384"/>
            <a:ext cx="713232" cy="713232"/>
          </a:xfrm>
          <a:prstGeom prst="ellipse">
            <a:avLst/>
          </a:prstGeom>
          <a:solidFill>
            <a:srgbClr val="1E2761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8" descr="/home/claude/pptx_work/icon_ap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52076" y="2093976"/>
            <a:ext cx="384048" cy="384048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321040" y="27889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</a:t>
            </a:r>
            <a:endParaRPr lang="en-US" sz="1500" dirty="0"/>
          </a:p>
        </p:txBody>
      </p:sp>
      <p:sp>
        <p:nvSpPr>
          <p:cNvPr id="38" name="Text 27"/>
          <p:cNvSpPr/>
          <p:nvPr/>
        </p:nvSpPr>
        <p:spPr>
          <a:xfrm>
            <a:off x="8321040" y="3154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utilisateur</a:t>
            </a:r>
            <a:endParaRPr lang="en-US" sz="1050" dirty="0"/>
          </a:p>
        </p:txBody>
      </p:sp>
      <p:sp>
        <p:nvSpPr>
          <p:cNvPr id="39" name="Shape 28"/>
          <p:cNvSpPr/>
          <p:nvPr/>
        </p:nvSpPr>
        <p:spPr>
          <a:xfrm>
            <a:off x="8641080" y="3474720"/>
            <a:ext cx="26060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29"/>
          <p:cNvSpPr/>
          <p:nvPr/>
        </p:nvSpPr>
        <p:spPr>
          <a:xfrm>
            <a:off x="8595360" y="3657600"/>
            <a:ext cx="365760" cy="365760"/>
          </a:xfrm>
          <a:prstGeom prst="ellipse">
            <a:avLst/>
          </a:prstGeom>
          <a:solidFill>
            <a:srgbClr val="3B5B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9" descr="/home/claude/pptx_work/icon_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3749040"/>
            <a:ext cx="182880" cy="18288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9070848" y="360273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extraits : lecture seule</a:t>
            </a:r>
            <a:endParaRPr lang="en-US" sz="1050" dirty="0"/>
          </a:p>
        </p:txBody>
      </p:sp>
      <p:sp>
        <p:nvSpPr>
          <p:cNvPr id="43" name="Shape 31"/>
          <p:cNvSpPr/>
          <p:nvPr/>
        </p:nvSpPr>
        <p:spPr>
          <a:xfrm>
            <a:off x="8595360" y="4343400"/>
            <a:ext cx="365760" cy="365760"/>
          </a:xfrm>
          <a:prstGeom prst="ellipse">
            <a:avLst/>
          </a:prstGeom>
          <a:solidFill>
            <a:srgbClr val="3B5B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10" descr="/home/claude/pptx_work/icon_p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0" y="4434840"/>
            <a:ext cx="182880" cy="18288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9070848" y="428853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du paiement</a:t>
            </a:r>
            <a:endParaRPr lang="en-US" sz="1050" dirty="0"/>
          </a:p>
        </p:txBody>
      </p:sp>
      <p:sp>
        <p:nvSpPr>
          <p:cNvPr id="46" name="Shape 33"/>
          <p:cNvSpPr/>
          <p:nvPr/>
        </p:nvSpPr>
        <p:spPr>
          <a:xfrm>
            <a:off x="8595360" y="5029200"/>
            <a:ext cx="365760" cy="365760"/>
          </a:xfrm>
          <a:prstGeom prst="ellipse">
            <a:avLst/>
          </a:prstGeom>
          <a:solidFill>
            <a:srgbClr val="3B5B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7" name="Image 11" descr="/home/claude/pptx_work/icon_sy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5120640"/>
            <a:ext cx="182880" cy="182880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9070848" y="497433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Reste_A_Payer mis à jour auto</a:t>
            </a:r>
            <a:endParaRPr lang="en-US" sz="1050" dirty="0"/>
          </a:p>
        </p:txBody>
      </p:sp>
      <p:sp>
        <p:nvSpPr>
          <p:cNvPr id="49" name="Shape 35"/>
          <p:cNvSpPr/>
          <p:nvPr/>
        </p:nvSpPr>
        <p:spPr>
          <a:xfrm>
            <a:off x="3849624" y="3675888"/>
            <a:ext cx="530352" cy="329184"/>
          </a:xfrm>
          <a:prstGeom prst="rightArrow">
            <a:avLst/>
          </a:prstGeom>
          <a:solidFill>
            <a:srgbClr val="3B5BA5"/>
          </a:solidFill>
          <a:ln/>
          <a:effectLst>
            <a:outerShdw blurRad="508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36"/>
          <p:cNvSpPr/>
          <p:nvPr/>
        </p:nvSpPr>
        <p:spPr>
          <a:xfrm>
            <a:off x="7735824" y="3675888"/>
            <a:ext cx="530352" cy="329184"/>
          </a:xfrm>
          <a:prstGeom prst="rightArrow">
            <a:avLst/>
          </a:prstGeom>
          <a:solidFill>
            <a:srgbClr val="3B5BA5"/>
          </a:solidFill>
          <a:ln/>
          <a:effectLst>
            <a:outerShdw blurRad="508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37"/>
          <p:cNvSpPr/>
          <p:nvPr/>
        </p:nvSpPr>
        <p:spPr>
          <a:xfrm>
            <a:off x="3849624" y="5047488"/>
            <a:ext cx="530352" cy="329184"/>
          </a:xfrm>
          <a:prstGeom prst="leftArrow">
            <a:avLst/>
          </a:prstGeom>
          <a:solidFill>
            <a:srgbClr val="8C3A3A"/>
          </a:solidFill>
          <a:ln/>
          <a:effectLst>
            <a:outerShdw blurRad="508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38"/>
          <p:cNvSpPr/>
          <p:nvPr/>
        </p:nvSpPr>
        <p:spPr>
          <a:xfrm>
            <a:off x="7735824" y="5047488"/>
            <a:ext cx="530352" cy="329184"/>
          </a:xfrm>
          <a:prstGeom prst="leftArrow">
            <a:avLst/>
          </a:prstGeom>
          <a:solidFill>
            <a:srgbClr val="8C3A3A"/>
          </a:solidFill>
          <a:ln/>
          <a:effectLst>
            <a:outerShdw blurRad="508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39"/>
          <p:cNvSpPr/>
          <p:nvPr/>
        </p:nvSpPr>
        <p:spPr>
          <a:xfrm>
            <a:off x="548640" y="1536192"/>
            <a:ext cx="11018520" cy="329184"/>
          </a:xfrm>
          <a:prstGeom prst="roundRect">
            <a:avLst>
              <a:gd name="adj" fmla="val 50000"/>
            </a:avLst>
          </a:prstGeom>
          <a:solidFill>
            <a:srgbClr val="3B5B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0"/>
          <p:cNvSpPr/>
          <p:nvPr/>
        </p:nvSpPr>
        <p:spPr>
          <a:xfrm>
            <a:off x="548640" y="1536192"/>
            <a:ext cx="11018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1 · CRÉATION DE LA COPIE OPÉRATIONNELLE + LIAISON id_dataverse</a:t>
            </a:r>
            <a:endParaRPr lang="en-US" sz="1050" dirty="0"/>
          </a:p>
        </p:txBody>
      </p:sp>
      <p:sp>
        <p:nvSpPr>
          <p:cNvPr id="55" name="Shape 41"/>
          <p:cNvSpPr/>
          <p:nvPr/>
        </p:nvSpPr>
        <p:spPr>
          <a:xfrm>
            <a:off x="548640" y="6035040"/>
            <a:ext cx="11018520" cy="329184"/>
          </a:xfrm>
          <a:prstGeom prst="roundRect">
            <a:avLst>
              <a:gd name="adj" fmla="val 50000"/>
            </a:avLst>
          </a:prstGeom>
          <a:solidFill>
            <a:srgbClr val="8C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42"/>
          <p:cNvSpPr/>
          <p:nvPr/>
        </p:nvSpPr>
        <p:spPr>
          <a:xfrm>
            <a:off x="548640" y="6035040"/>
            <a:ext cx="11018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2 · SYNCHRONISATION DU PAIEMENT VERS POSTGRES</a:t>
            </a:r>
            <a:endParaRPr lang="en-US" sz="1050" dirty="0"/>
          </a:p>
        </p:txBody>
      </p:sp>
      <p:sp>
        <p:nvSpPr>
          <p:cNvPr id="57" name="Text 4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retravaillé pour plus de clarté</a:t>
            </a:r>
            <a:endParaRPr lang="en-US" sz="1000" dirty="0"/>
          </a:p>
        </p:txBody>
      </p:sp>
      <p:sp>
        <p:nvSpPr>
          <p:cNvPr id="58" name="Text 4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· BASE DE 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 : ajout de montant_payé et reste_à_payer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64592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de deux colonnes à la table document 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montant_paye — NUMERIC(14,2), défaut 0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reste_a_payer — colonne générée (STORED), calculée automatiquement = montant_ttc − montant_paye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32461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reste la source de vérité : le recalcul est garanti cohérent, sans logique dupliquée côté flow.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5120640" cy="1417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466344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document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COLUMN montant_paye NUMERIC(14,2) DEFAULT 0,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COLUMN reste_a_payer NUMERIC(14,2)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GENERATED ALWAYS AS (montant_ttc - montant_paye) STORED;</a:t>
            </a:r>
            <a:endParaRPr lang="en-US" sz="950" dirty="0"/>
          </a:p>
        </p:txBody>
      </p:sp>
      <p:pic>
        <p:nvPicPr>
          <p:cNvPr id="10" name="Image 0" descr="/mnt/user-data/uploads/ajout_montant_paye_et_reste_a_p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600200"/>
            <a:ext cx="5577840" cy="2908154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document — DazzlifAI (Neon)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· MODÉLISATION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Dataverse « Document »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12534" y="2508815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2534" y="25088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97401" y="2569651"/>
            <a:ext cx="8503920" cy="1899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miroir créée avec Copilot (préfixe cr599_), reflétant la structure Postgres.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Postgres_Ref_Id — requis, sert de clé de liaison retour vers Postgres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Montant_Paye &amp; Statut_Paiement — seuls champs éditables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autres champs — verrouillés en lecture seule (données extraites, protégées)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Reste_A_Payer — colonne calculée, formule Montant_TTC − Montant_Paye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Document — Microsoft Dataverse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10" name="Picture 9" descr="What is Microsoft Dataverse? | SysGen">
            <a:extLst>
              <a:ext uri="{FF2B5EF4-FFF2-40B4-BE49-F238E27FC236}">
                <a16:creationId xmlns:a16="http://schemas.microsoft.com/office/drawing/2014/main" id="{028306E0-4F26-32D4-447E-8903F24B8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593" y="2266173"/>
            <a:ext cx="3465694" cy="220319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 0" descr="/mnt/user-data/uploads/table_Document_Dataverse.png">
            <a:extLst>
              <a:ext uri="{FF2B5EF4-FFF2-40B4-BE49-F238E27FC236}">
                <a16:creationId xmlns:a16="http://schemas.microsoft.com/office/drawing/2014/main" id="{4B3BBEB8-BE95-A09A-7D34-36BE743EB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396" y="643467"/>
            <a:ext cx="10413207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267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·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Formulaire Power Apps « Outil de facturation »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210312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Model-driven app générée à partir de la table Dataverse — vue "Documents actifs" + formulaire de détail.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champ extrait affiche un cadenas (lecture seule)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Montant_Paye reste éditable — seul champ que l'utilisateur renseigne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Reste_A_Payer se met à jour automatiquement à l'enregistrement</a:t>
            </a:r>
            <a:endParaRPr lang="en-US" sz="1200" dirty="0"/>
          </a:p>
        </p:txBody>
      </p:sp>
      <p:pic>
        <p:nvPicPr>
          <p:cNvPr id="7" name="Image 0" descr="/mnt/user-data/uploads/outil_de_factu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1600200"/>
            <a:ext cx="3840480" cy="19564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31736" y="359321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« Documents actifs »</a:t>
            </a:r>
            <a:endParaRPr lang="en-US" sz="900" dirty="0"/>
          </a:p>
        </p:txBody>
      </p:sp>
      <p:pic>
        <p:nvPicPr>
          <p:cNvPr id="9" name="Image 1" descr="/mnt/user-data/uploads/exemple_fa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3830954"/>
            <a:ext cx="3840480" cy="19554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31736" y="5822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de détail — champs verrouillés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Power Apps — Outil de facturation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· AUTOMATISATION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1 : création Dataverse + liaison id_dataverse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73736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l'insertion Postgres réussie, le flow crée la copie opérationnelle et boucle la liaison :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row (Dataverse) — copie les champs extraits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 du GUID Dataverse généré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row— écrit id_dataverse dans Postgres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37033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</a:t>
            </a:r>
            <a:r>
              <a:rPr lang="en-US" sz="1100" i="1" dirty="0" err="1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apportées</a:t>
            </a:r>
            <a:r>
              <a:rPr lang="en-US" sz="11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champ Owner </a:t>
            </a:r>
            <a:r>
              <a:rPr lang="en-US" sz="1100" i="1" dirty="0" err="1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</a:t>
            </a:r>
            <a:r>
              <a:rPr lang="en-US" sz="11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extraction du GUID </a:t>
            </a:r>
            <a:r>
              <a:rPr lang="en-US" sz="1100" i="1" dirty="0" err="1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</a:t>
            </a:r>
            <a:r>
              <a:rPr lang="en-US" sz="11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l'URL</a:t>
            </a:r>
            <a:r>
              <a:rPr lang="en-US" sz="11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Odata</a:t>
            </a:r>
            <a:r>
              <a:rPr lang="en-US" sz="11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100" dirty="0"/>
          </a:p>
        </p:txBody>
      </p:sp>
      <p:pic>
        <p:nvPicPr>
          <p:cNvPr id="8" name="Image 0" descr="/mnt/user-data/uploads/flow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600200"/>
            <a:ext cx="4543757" cy="484632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Power Automate — Flux_Facture_sharepoint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 · AUTOMATISATION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2 : synchronisation du paiement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645920"/>
            <a:ext cx="44805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 Dataverse "When a row is added, modified or deleted", filtré sur Montant_Paye uniquement :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attributes = Montant_Paye — évite les déclenchements inutiles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row— met à jour montant_paye dans Postgres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reste_a_payer recalculé automatiquement (colonne générée)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— met à jour Statut_Paiement (Payée / Partiellement payée / Impayée)</a:t>
            </a:r>
            <a:endParaRPr lang="en-US" sz="1200" dirty="0"/>
          </a:p>
        </p:txBody>
      </p:sp>
      <p:pic>
        <p:nvPicPr>
          <p:cNvPr id="7" name="Image 0" descr="/mnt/user-data/uploads/flow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80160"/>
            <a:ext cx="5892745" cy="484632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Power Automate — Synchronisation_Paiement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Documents Dataverse synchronisée</a:t>
            </a:r>
            <a:endParaRPr lang="en-US" sz="2500" dirty="0"/>
          </a:p>
        </p:txBody>
      </p:sp>
      <p:pic>
        <p:nvPicPr>
          <p:cNvPr id="4" name="Image 0" descr="/mnt/user-data/uploads/table_Documents_Datave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946" y="1554480"/>
            <a:ext cx="8029804" cy="416052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2080946" y="5852160"/>
            <a:ext cx="8029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Dataverse est liée à son document Postgres via Postgres_Ref_Id, avec montant_payé et reste_à_payer visibles et à jour en temps réel.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Documents — Microsoft Dataverse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480560"/>
            <a:ext cx="4754880" cy="4754880"/>
          </a:xfrm>
          <a:prstGeom prst="ellipse">
            <a:avLst/>
          </a:prstGeom>
          <a:solidFill>
            <a:srgbClr val="3B5BA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28655" y="5577840"/>
            <a:ext cx="2377440" cy="237744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PROCHAINES ÉTAPES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intégration bidirectionnelle opérationnelle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↔ Dataverse ↔ Power Apps synchronisés dans les deux sens (Flow 1 &amp; Flow 2)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reste_à_payer calculé automatiquement, sans double logique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Incohérence de précision monétaire identifiée et corrigée (précision Currency 2 décimales)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0936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5146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Exposer montant_payé / reste_à_payer au moteur RAG pour les requêtes sur les factures impayées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Siwar ADALI — Sprint 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879</Words>
  <Application>Microsoft Office PowerPoint</Application>
  <PresentationFormat>Widescreen</PresentationFormat>
  <Paragraphs>120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adali siwar</cp:lastModifiedBy>
  <cp:revision>1</cp:revision>
  <dcterms:created xsi:type="dcterms:W3CDTF">2026-08-20T22:50:49Z</dcterms:created>
  <dcterms:modified xsi:type="dcterms:W3CDTF">2026-08-21T17:59:09Z</dcterms:modified>
</cp:coreProperties>
</file>