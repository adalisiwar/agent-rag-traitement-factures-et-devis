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li siwar" userId="3aca83244d99da43" providerId="LiveId" clId="{A27E7B51-5BEE-437D-9FF7-18A5F3DAD691}"/>
    <pc:docChg chg="modSld">
      <pc:chgData name="adali siwar" userId="3aca83244d99da43" providerId="LiveId" clId="{A27E7B51-5BEE-437D-9FF7-18A5F3DAD691}" dt="2026-08-28T18:03:04.085" v="31" actId="1035"/>
      <pc:docMkLst>
        <pc:docMk/>
      </pc:docMkLst>
      <pc:sldChg chg="modSp mod">
        <pc:chgData name="adali siwar" userId="3aca83244d99da43" providerId="LiveId" clId="{A27E7B51-5BEE-437D-9FF7-18A5F3DAD691}" dt="2026-08-28T18:03:04.085" v="31" actId="1035"/>
        <pc:sldMkLst>
          <pc:docMk/>
          <pc:sldMk cId="0" sldId="257"/>
        </pc:sldMkLst>
        <pc:spChg chg="mod">
          <ac:chgData name="adali siwar" userId="3aca83244d99da43" providerId="LiveId" clId="{A27E7B51-5BEE-437D-9FF7-18A5F3DAD691}" dt="2026-08-28T18:02:55.364" v="11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dali siwar" userId="3aca83244d99da43" providerId="LiveId" clId="{A27E7B51-5BEE-437D-9FF7-18A5F3DAD691}" dt="2026-08-28T18:02:59.430" v="20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adali siwar" userId="3aca83244d99da43" providerId="LiveId" clId="{A27E7B51-5BEE-437D-9FF7-18A5F3DAD691}" dt="2026-08-28T18:03:04.085" v="31" actId="1035"/>
          <ac:spMkLst>
            <pc:docMk/>
            <pc:sldMk cId="0" sldId="257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123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480560"/>
            <a:ext cx="4754880" cy="4754880"/>
          </a:xfrm>
          <a:prstGeom prst="ellipse">
            <a:avLst/>
          </a:prstGeom>
          <a:solidFill>
            <a:srgbClr val="3B5B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28655" y="5577840"/>
            <a:ext cx="2377440" cy="2377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D'ÉTÉ — DAZZLIFAI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RAG pour l'automatisation du traitement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la digitalisation des factures et devis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de suivi — Sprint Final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434840"/>
            <a:ext cx="2011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Étudiante en Génie Informatique — ENIS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est-on : le sprint final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34840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déjà en place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bidirectionnelle Postgres ↔ Dataverse ↔ Power Apps opérationnelle (Sprint 7), avec montant_payé et reste_à_payer exposés en base.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de recherche hybride (vecteur + full-text + RRF) avec filtres structurés, mais qui ne renvoyait que des données brutes — aucune génération de réponse, aucune visualisation.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ce sprint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869054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26480" y="28690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272013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Refactoriser la recherche en modules réutilisables et testables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801742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38017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699475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LLM pour générer des réponses groundées sur le contexte récupéré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734430"/>
            <a:ext cx="384048" cy="384048"/>
          </a:xfrm>
          <a:prstGeom prst="ellips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47344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4613501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rapports visuels à la demande (Excel, graphique, HTML)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Final — Interrogation RAG et reporting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d'interrogation de l'agent RAG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75608" y="169164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40200" y="17602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pptx_work/icon_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352" y="18333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15688" y="16916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utilisateur (CLI)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95848" y="2212848"/>
            <a:ext cx="0" cy="18288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rot="10800000">
            <a:off x="6022696" y="2377440"/>
            <a:ext cx="146304" cy="128016"/>
          </a:xfrm>
          <a:prstGeom prst="triangl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18408" y="2523744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83000" y="2592324"/>
            <a:ext cx="365760" cy="36576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pptx_work/icon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152" y="266547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58488" y="25237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rag_agent.py — détection d'intention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95848" y="3044952"/>
            <a:ext cx="0" cy="18288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 rot="10800000">
            <a:off x="6022696" y="3209544"/>
            <a:ext cx="146304" cy="128016"/>
          </a:xfrm>
          <a:prstGeom prst="triangl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06628" y="3355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071220" y="35615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pptx_work/icon_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372" y="363474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46708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SQL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546708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run_aggregation() — rag_search.py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472788" y="3355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637380" y="35615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/home/claude/pptx_work/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532" y="363474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12868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hybride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112868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run_hybrid_search() — rag_search.py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038948" y="3355848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AFBFD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8203540" y="356158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/home/claude/pptx_work/ic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6692" y="363474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79028" y="34655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679028" y="3776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generate_report() — rag_reporting.py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2529688" y="4133088"/>
            <a:ext cx="0" cy="365760"/>
          </a:xfrm>
          <a:prstGeom prst="line">
            <a:avLst/>
          </a:prstGeom>
          <a:noFill/>
          <a:ln w="1905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6095848" y="4133088"/>
            <a:ext cx="0" cy="365760"/>
          </a:xfrm>
          <a:prstGeom prst="line">
            <a:avLst/>
          </a:prstGeom>
          <a:noFill/>
          <a:ln w="1905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9662008" y="4133088"/>
            <a:ext cx="0" cy="365760"/>
          </a:xfrm>
          <a:prstGeom prst="line">
            <a:avLst/>
          </a:prstGeom>
          <a:noFill/>
          <a:ln w="1905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2529688" y="4498848"/>
            <a:ext cx="7132320" cy="0"/>
          </a:xfrm>
          <a:prstGeom prst="line">
            <a:avLst/>
          </a:prstGeom>
          <a:noFill/>
          <a:ln w="19050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095848" y="4498848"/>
            <a:ext cx="0" cy="18288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 rot="10800000">
            <a:off x="6022696" y="4663440"/>
            <a:ext cx="146304" cy="128016"/>
          </a:xfrm>
          <a:prstGeom prst="triangl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3718408" y="4809744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3B5BA5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3883000" y="4878324"/>
            <a:ext cx="365760" cy="365760"/>
          </a:xfrm>
          <a:prstGeom prst="ellipse">
            <a:avLst/>
          </a:prstGeom>
          <a:solidFill>
            <a:srgbClr val="1E2761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5" descr="/home/claude/pptx_work/icon_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6152" y="4951476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358488" y="48097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génération groundée</a:t>
            </a:r>
            <a:endParaRPr lang="en-US" sz="1150" dirty="0"/>
          </a:p>
        </p:txBody>
      </p:sp>
      <p:sp>
        <p:nvSpPr>
          <p:cNvPr id="41" name="Shape 33"/>
          <p:cNvSpPr/>
          <p:nvPr/>
        </p:nvSpPr>
        <p:spPr>
          <a:xfrm>
            <a:off x="6095848" y="5330952"/>
            <a:ext cx="0" cy="182880"/>
          </a:xfrm>
          <a:prstGeom prst="line">
            <a:avLst/>
          </a:prstGeom>
          <a:noFill/>
          <a:ln w="22225">
            <a:solidFill>
              <a:srgbClr val="3B5B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 rot="10800000">
            <a:off x="6022696" y="5495544"/>
            <a:ext cx="146304" cy="128016"/>
          </a:xfrm>
          <a:prstGeom prst="triangle">
            <a:avLst/>
          </a:prstGeom>
          <a:solidFill>
            <a:srgbClr val="3B5B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5"/>
          <p:cNvSpPr/>
          <p:nvPr/>
        </p:nvSpPr>
        <p:spPr>
          <a:xfrm>
            <a:off x="3261208" y="5641848"/>
            <a:ext cx="566928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3425800" y="57424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6" descr="/home/claude/pptx_work/icon_exce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98952" y="5815584"/>
            <a:ext cx="219456" cy="21945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901288" y="575157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langage naturel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3901288" y="60624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rapport : HTML + Excel + graphique PNG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rag_agent.py orchestre rag_search.py, rag_reporting.py, db_utils.py et llm_utils.py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RECHERCHE SÉMANTIQUE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Réponses groundées et filtres structurés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répond uniquement à partir des documents récupérés — s'il n'y a pas de correspondance pertinente, il le dit explicitement plutôt que d'inventer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filtres structurés (année, statut) sont combinés à la recherche avant génération, sans intervention manuelle</a:t>
            </a:r>
            <a:endParaRPr lang="en-US" sz="1200" dirty="0"/>
          </a:p>
        </p:txBody>
      </p:sp>
      <p:pic>
        <p:nvPicPr>
          <p:cNvPr id="7" name="Image 0" descr="/home/claude/pptx_final/test_si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448" y="3246120"/>
            <a:ext cx="8686800" cy="3011781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1752448" y="6312765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"Anomalies en 2023" → aucun résultat, "statut OK en 2023" → 4 documents identifiés avec leurs références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rag_agent.py — mode recherche hybride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· AGRÉGATION STRUCTURÉE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Filtres combinés : fournisseur + reste à payer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"Reste à payer total pour le fournisseur Barnes, Garcia and Martin" combine un filtre nommé (fournisseur) et une agrégation (reste) dans la même requête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passe par SQL direct plutôt que par la recherche vectorielle — plus fiable et plus rapide pour ce type de question</a:t>
            </a:r>
            <a:endParaRPr lang="en-US" sz="1200" dirty="0"/>
          </a:p>
        </p:txBody>
      </p:sp>
      <p:pic>
        <p:nvPicPr>
          <p:cNvPr id="7" name="Image 0" descr="/home/claude/pptx_final/filtre_fournisseur_agre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088" y="3154680"/>
            <a:ext cx="7589520" cy="2938214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2301088" y="614775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factures impayées identifiées, 15 334,62 € de reste à payer, 0 € réglé à ce jour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rag_agent.py — mode agrégation SQL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1 — Montant TTC par fournisseur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mot-clé "rapport" déclenche generate_report() : requête GROUP BY, graphique horizontal Top 8 + Autres, export Excel stylé.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rédigée par le LLM à partir du tableau de données, pas d'une simple lecture de chiffres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TechVision Distributors concentre à lui seul ~3,2M€ sur seulement 2 documents</a:t>
            </a:r>
            <a:endParaRPr lang="en-US" sz="1200" dirty="0"/>
          </a:p>
        </p:txBody>
      </p:sp>
      <p:pic>
        <p:nvPicPr>
          <p:cNvPr id="7" name="Image 0" descr="/home/claude/pptx_final/rapport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5486400" cy="457788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généré automatiquement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1 — Détail des 20 fournisseurs</a:t>
            </a:r>
            <a:endParaRPr lang="en-US" sz="2500" dirty="0"/>
          </a:p>
        </p:txBody>
      </p:sp>
      <p:pic>
        <p:nvPicPr>
          <p:cNvPr id="4" name="Image 0" descr="/home/claude/pptx_final/rapport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8" y="1600200"/>
            <a:ext cx="5029200" cy="412058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581248" y="577564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complet exporté en parallèle au format Excel (rapport.xlsx), avec la même mise en forme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tableau détaillé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2 — Reste à payer par statut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"Fais-moi un tableau du reste à payer par statut" change à la fois le regroupement (statut) et la métrique (reste_a_payer).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4,18M€ concentrés sur seulement 23 documents au statut OK — le vrai enjeu de trésorerie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1,14M€ dispersés sur 1299 factures en anomalie — volume élevé, enjeu financier plus diffus</a:t>
            </a:r>
            <a:endParaRPr lang="en-US" sz="1200" dirty="0"/>
          </a:p>
        </p:txBody>
      </p:sp>
      <p:pic>
        <p:nvPicPr>
          <p:cNvPr id="7" name="Image 0" descr="/home/claude/pptx_final/rapport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5486400" cy="4572841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regroupement par statut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2 — Graphique et détail</a:t>
            </a:r>
            <a:endParaRPr lang="en-US" sz="2500" dirty="0"/>
          </a:p>
        </p:txBody>
      </p:sp>
      <p:pic>
        <p:nvPicPr>
          <p:cNvPr id="4" name="Image 0" descr="/home/claude/pptx_final/rapport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8" y="1600200"/>
            <a:ext cx="5029200" cy="4102054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581248" y="575711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rapport, dans son intégralité : graphique + tableau détaillé + note de bas de page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vue complète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3 — Nombre de documents par mois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Troisième dimension de regroupement testée : le temps (to_char(date_emission, 'YYYY-MM')).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documents sans date d'émission renseignée — anomalie de données à corriger en amont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recommande de lui-même un audit du suivi des encaissements</a:t>
            </a:r>
            <a:endParaRPr lang="en-US" sz="1200" dirty="0"/>
          </a:p>
        </p:txBody>
      </p:sp>
      <p:pic>
        <p:nvPicPr>
          <p:cNvPr id="7" name="Image 0" descr="/home/claude/pptx_final/rapport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60120"/>
            <a:ext cx="5486400" cy="4675322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regroupement par mois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· REPORTING AUTOMATIQUE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3 — Détail par mois</a:t>
            </a:r>
            <a:endParaRPr lang="en-US" sz="2500" dirty="0"/>
          </a:p>
        </p:txBody>
      </p:sp>
      <p:pic>
        <p:nvPicPr>
          <p:cNvPr id="4" name="Image 0" descr="/home/claude/pptx_final/rapport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48" y="1600200"/>
            <a:ext cx="5029200" cy="4091940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581248" y="57470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automatique par montant décroissant — met en évidence les pics ponctuels (ex: novembre 2023)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rapport.html — tableau détaillé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ORGANISATION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rapport, horodaté et traçable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appel à generate_report() crée un dossier reports/&lt;timestamp&gt;/ contenant les trois formats — rien n'est écrasé d'un test à l'autre.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graphique.png, rapport.html, rapport.xlsx systématiquement ensemble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des tests conservé pour comparaison</a:t>
            </a:r>
            <a:endParaRPr lang="en-US" sz="1200" dirty="0"/>
          </a:p>
        </p:txBody>
      </p:sp>
      <p:pic>
        <p:nvPicPr>
          <p:cNvPr id="7" name="Image 0" descr="/home/claude/pptx_final/organisation_par_timest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809784"/>
            <a:ext cx="4228854" cy="5385019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8848049" y="622572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reports/ horodatés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rapports générés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4" name="Image 1" descr="/home/claude/pptx_final/rapport4.png">
            <a:extLst>
              <a:ext uri="{FF2B5EF4-FFF2-40B4-BE49-F238E27FC236}">
                <a16:creationId xmlns:a16="http://schemas.microsoft.com/office/drawing/2014/main" id="{8C61B3FA-2165-E168-6FC1-37D797881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35039"/>
            <a:ext cx="6368128" cy="2654533"/>
          </a:xfrm>
          <a:prstGeom prst="rect">
            <a:avLst/>
          </a:prstGeom>
          <a:effectLst>
            <a:outerShdw blurRad="76200" dist="25400" dir="54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A5449A43-33DB-313E-3230-A8A4A3405D11}"/>
              </a:ext>
            </a:extLst>
          </p:cNvPr>
          <p:cNvSpPr/>
          <p:nvPr/>
        </p:nvSpPr>
        <p:spPr>
          <a:xfrm>
            <a:off x="2447249" y="6125139"/>
            <a:ext cx="3797218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: répartition des montants payés par facture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Log Entries — Sprint Final</a:t>
            </a:r>
            <a:endParaRPr lang="en-US" sz="2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38404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Coupure connexion Neon pendant l'embedding — keepalive + 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Quota Gemini 429 sur embed_content — backoff + arrêt propre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Refactoring en modules (db_utils, llm_utils, rag_search)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 génération LLM (rag_agent.py) — prompts groundés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Développement rag_reporting.py — GROUP BY, Excel, graphique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HTML auto-contenu (synthèse + graphique + tableau)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Decimal * float dans le calcul du graphique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paramètres SQL positionnels → paramètres nommés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de bout en bout (rapport, agrégation, recherche, filtres)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18h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— Sprint Final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480560"/>
            <a:ext cx="4754880" cy="4754880"/>
          </a:xfrm>
          <a:prstGeom prst="ellipse">
            <a:avLst/>
          </a:prstGeom>
          <a:solidFill>
            <a:srgbClr val="3B5BA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28655" y="5577840"/>
            <a:ext cx="2377440" cy="237744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PROCHAINES ÉTAPES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agent RAG complet, du retrieval au rapport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7339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084873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opérationnel : retrieval hybride, génération groundée, reporting visuel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 (5 fichiers) réutilisable et testable indépendamment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 de robustesse résolus en conditions réelles, pas seulement en théorie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Siwar ADALI — Sprint Final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1068</Words>
  <Application>Microsoft Office PowerPoint</Application>
  <PresentationFormat>Widescreen</PresentationFormat>
  <Paragraphs>156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adali siwar</cp:lastModifiedBy>
  <cp:revision>3</cp:revision>
  <dcterms:created xsi:type="dcterms:W3CDTF">2026-08-28T05:10:56Z</dcterms:created>
  <dcterms:modified xsi:type="dcterms:W3CDTF">2026-08-28T18:03:06Z</dcterms:modified>
</cp:coreProperties>
</file>