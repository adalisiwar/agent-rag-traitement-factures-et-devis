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67" r:id="rId4"/>
    <p:sldId id="259" r:id="rId5"/>
    <p:sldId id="268" r:id="rId6"/>
    <p:sldId id="262" r:id="rId7"/>
    <p:sldId id="260" r:id="rId8"/>
    <p:sldId id="261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301" y="6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8307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2735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D'ÉTÉ — DAZZLIFAI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RAG pour l'automatisation du</a:t>
            </a:r>
            <a:endParaRPr lang="en-US" sz="3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traitement des factures et devis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de </a:t>
            </a:r>
            <a:r>
              <a:rPr lang="en-US" sz="20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</a:t>
            </a: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Sprint 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4892040"/>
            <a:ext cx="2011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5074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Siwar ADALI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53766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Étudiante en Génie Informatique — ENIS  |  Dazzlifai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73 — CONFIGURATION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1 — AI Builder (Power Automate)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7482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prédéfini « Traitement de factures » a été configuré et intégré dans un flow complet : déclenchement manuel → listage des fichiers OneDrive → boucle For each → récupération du contenu → appel du modèle AI Builder → consolidation → export CSV.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6748272" cy="1965960"/>
          </a:xfrm>
          <a:prstGeom prst="roundRect">
            <a:avLst>
              <a:gd name="adj" fmla="val 2791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59" y="3840480"/>
            <a:ext cx="60620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59" y="4160520"/>
            <a:ext cx="606200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Low-code (</a:t>
            </a:r>
            <a:r>
              <a:rPr lang="en-US" sz="1200" dirty="0" err="1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</a:t>
            </a:r>
            <a:r>
              <a:rPr lang="en-US" sz="12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ligne de code) + le connecteur AI Builder gère directement l'appel au modèle et la boucle sur le dossier de factures.</a:t>
            </a:r>
            <a:endParaRPr lang="en-US" sz="1200" dirty="0"/>
          </a:p>
        </p:txBody>
      </p:sp>
      <p:pic>
        <p:nvPicPr>
          <p:cNvPr id="8" name="Image 0" descr="flux_AiBui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443404"/>
            <a:ext cx="4023359" cy="52048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43880" y="58978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AI Builder </a:t>
            </a:r>
            <a:r>
              <a:rPr lang="en-US" sz="1050" i="1" dirty="0" err="1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RAG — Traitement Factures &amp; Devis  |  Dazzlifai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A41004C0-4346-2C22-31A4-AFC13F80B7B4}"/>
              </a:ext>
            </a:extLst>
          </p:cNvPr>
          <p:cNvCxnSpPr>
            <a:cxnSpLocks/>
          </p:cNvCxnSpPr>
          <p:nvPr/>
        </p:nvCxnSpPr>
        <p:spPr>
          <a:xfrm>
            <a:off x="7328768" y="6115594"/>
            <a:ext cx="535072" cy="3175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 0" descr="test_modele_predefini.png">
            <a:extLst>
              <a:ext uri="{FF2B5EF4-FFF2-40B4-BE49-F238E27FC236}">
                <a16:creationId xmlns:a16="http://schemas.microsoft.com/office/drawing/2014/main" id="{711F5989-0A5F-4B5F-DE83-08D50DF75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668" y="457200"/>
            <a:ext cx="11006663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449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73 — CONFIGURATION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2 — Azure Document Intelligence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prebuilt-invoice a été testé via appel API direct : HTTP POST d'analyse, puis boucle de polling HTTP GET avec délai — après résolution d'un </a:t>
            </a:r>
            <a:r>
              <a:rPr lang="en-US" sz="1300" dirty="0" err="1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d'authentification</a:t>
            </a: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pic>
        <p:nvPicPr>
          <p:cNvPr id="5" name="Image 0" descr="boucle_doUntil_DocumentIntellig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234" y="2675459"/>
            <a:ext cx="3700424" cy="33367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2335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« Exécuter jusqu'à » : appel API + polling du statut</a:t>
            </a:r>
            <a:endParaRPr lang="en-US" sz="1050" dirty="0"/>
          </a:p>
        </p:txBody>
      </p:sp>
      <p:pic>
        <p:nvPicPr>
          <p:cNvPr id="7" name="Image 1" descr="flux_DocIntel_suc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0" y="1531359"/>
            <a:ext cx="4218737" cy="452654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48402" y="60807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exécuté avec succès de bout en bout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RAG — Traitement Factures &amp; Devis  |  Dazzlifai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 1" descr="mail_recu_DocIntel.png">
            <a:extLst>
              <a:ext uri="{FF2B5EF4-FFF2-40B4-BE49-F238E27FC236}">
                <a16:creationId xmlns:a16="http://schemas.microsoft.com/office/drawing/2014/main" id="{05306024-343D-4D03-F63C-5B8ED161C8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39" b="11699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331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Document Intelligence — test unitaire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238" y="1787505"/>
            <a:ext cx="110642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l'unique facture testée, l'extraction est complète et correcte (fournisseur, client, adresses, date, montant total) — qualité équivalente à AI Builder, les deux s'appuyant sur le même moteur sous-jacent.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239" y="2930505"/>
            <a:ext cx="5394960" cy="1737360"/>
          </a:xfrm>
          <a:prstGeom prst="roundRect">
            <a:avLst>
              <a:gd name="adj" fmla="val 3158"/>
            </a:avLst>
          </a:prstGeom>
          <a:solidFill>
            <a:srgbClr val="FDF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0559" y="3113385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CONTREPARTIE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0559" y="3433425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4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bien plus lourde : authentification par clé API à chaque appel, gestion du pattern asynchrone (soumission + interrogation répétée), débogage d'une erreur d'autorisation sur le polling.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18399" y="3936345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RAG — Traitement Factures &amp; Devis  |  Dazzlifai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14" name="Picture 13" descr="Automating Business PDFs Using Azure Document Intelligence and Power  Automate - Microsoft Dynamics 365 CRM Tips and Tricks">
            <a:extLst>
              <a:ext uri="{FF2B5EF4-FFF2-40B4-BE49-F238E27FC236}">
                <a16:creationId xmlns:a16="http://schemas.microsoft.com/office/drawing/2014/main" id="{98EBBE3A-DCE1-F993-350C-3B85533054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437" t="56363" r="9864" b="1"/>
          <a:stretch>
            <a:fillRect/>
          </a:stretch>
        </p:blipFill>
        <p:spPr>
          <a:xfrm>
            <a:off x="7215795" y="3429000"/>
            <a:ext cx="2771713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74 — TESTS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Jeu de test : 17 factures, diversité volontaire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377440" cy="443484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factures de test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3611880"/>
            <a:ext cx="1645920" cy="0"/>
          </a:xfrm>
          <a:prstGeom prst="line">
            <a:avLst/>
          </a:prstGeom>
          <a:noFill/>
          <a:ln w="12700">
            <a:solidFill>
              <a:srgbClr val="3C4F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0" y="1691640"/>
            <a:ext cx="8412480" cy="1280160"/>
          </a:xfrm>
          <a:prstGeom prst="roundRect">
            <a:avLst>
              <a:gd name="adj" fmla="val 4286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29000" y="19202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2900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0" y="185623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Langues &amp; devises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023360" y="224028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Français / anglais — USD, EUR, GBP, INR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0" y="3172968"/>
            <a:ext cx="8412480" cy="1280160"/>
          </a:xfrm>
          <a:prstGeom prst="roundRect">
            <a:avLst>
              <a:gd name="adj" fmla="val 4286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429000" y="3401568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29000" y="3401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023360" y="33375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Mises en page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023360" y="3721608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Tabulaire classique, « Seller/Client », TVA détaillée FR, reçu type Project Statement, style Stripe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0" y="4654296"/>
            <a:ext cx="8412480" cy="1280160"/>
          </a:xfrm>
          <a:prstGeom prst="roundRect">
            <a:avLst>
              <a:gd name="adj" fmla="val 4286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429000" y="4882896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29000" y="48828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023360" y="4818888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pièges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023360" y="520293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 sans total visible, montant dû ≠ total </a:t>
            </a:r>
            <a:r>
              <a:rPr lang="en-US" sz="1200" dirty="0" err="1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</a:t>
            </a:r>
            <a:r>
              <a:rPr lang="en-US" sz="12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RAG — Traitement Factures &amp; Devis  |  Dazzlifai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Builder — échantillon complet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017520" cy="1417320"/>
          </a:xfrm>
          <a:prstGeom prst="roundRect">
            <a:avLst>
              <a:gd name="adj" fmla="val 3871"/>
            </a:avLst>
          </a:prstGeom>
          <a:solidFill>
            <a:srgbClr val="EA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85–90%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réussite global (seuil requis : 80%)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94760" y="1627632"/>
            <a:ext cx="7818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794760" y="1774786"/>
            <a:ext cx="7818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d'encodage identifié à l'export : caractères accentués corrompus (ex. « États Unis » → « Ã‰tats Unis ») — défaut UTF-8 côté génération du CSV, non lié à la qualité d'extraction.</a:t>
            </a:r>
            <a:endParaRPr lang="en-US" sz="1250" dirty="0"/>
          </a:p>
        </p:txBody>
      </p:sp>
      <p:pic>
        <p:nvPicPr>
          <p:cNvPr id="9" name="Image 0" descr="excel_result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83546"/>
            <a:ext cx="11299910" cy="266005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consolidé des résultats AI Builder (Excel)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RAG — Traitement Factures &amp; Devis  |  Dazzlifai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Builder retenu comme solution principale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65760" cy="365760"/>
          </a:xfrm>
          <a:prstGeom prst="ellipse">
            <a:avLst/>
          </a:prstGeom>
          <a:solidFill>
            <a:srgbClr val="3C4F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1911096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critère d'acceptation (80% de réussite) est déjà atteint sur l'échantillon complet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365760" cy="365760"/>
          </a:xfrm>
          <a:prstGeom prst="ellipse">
            <a:avLst/>
          </a:prstGeom>
          <a:solidFill>
            <a:srgbClr val="3C4F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2916936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d'intégration nettement inférieur, conforme à l'approche hybride du cahier des charges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365760" cy="365760"/>
          </a:xfrm>
          <a:prstGeom prst="ellipse">
            <a:avLst/>
          </a:prstGeom>
          <a:solidFill>
            <a:srgbClr val="3C4F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3922776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faiblesse sur les factures françaises toucherait aussi Document Intelligence : les deux partagent le même moteur — c'est une piste d'amélioration future, pas un critère de choix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5440680"/>
            <a:ext cx="11064240" cy="0"/>
          </a:xfrm>
          <a:prstGeom prst="line">
            <a:avLst/>
          </a:prstGeom>
          <a:noFill/>
          <a:ln w="12700">
            <a:solidFill>
              <a:srgbClr val="3C4F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RAG — Traitement Factures &amp; Devis  |  Dazzlifai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525</Words>
  <Application>Microsoft Office PowerPoint</Application>
  <PresentationFormat>Widescreen</PresentationFormat>
  <Paragraphs>68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Siwar ADALI</cp:lastModifiedBy>
  <cp:revision>2</cp:revision>
  <dcterms:created xsi:type="dcterms:W3CDTF">2026-07-23T21:25:18Z</dcterms:created>
  <dcterms:modified xsi:type="dcterms:W3CDTF">2026-07-24T16:01:48Z</dcterms:modified>
</cp:coreProperties>
</file>